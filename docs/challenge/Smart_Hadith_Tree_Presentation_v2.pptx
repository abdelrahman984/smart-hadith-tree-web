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7" r:id="rId17"/>
    <p:sldId id="266" r:id="rId16"/>
    <p:sldId id="279" r:id="rId29"/>
    <p:sldId id="282" r:id="rId32"/>
    <p:sldId id="275" r:id="rId25"/>
    <p:sldId id="270" r:id="rId20"/>
    <p:sldId id="264" r:id="rId14"/>
    <p:sldId id="272" r:id="rId22"/>
    <p:sldId id="273" r:id="rId23"/>
    <p:sldId id="283" r:id="rId3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8.xml"/><Relationship Id="rId16" Type="http://schemas.openxmlformats.org/officeDocument/2006/relationships/slide" Target="slides/slide3.xml"/><Relationship Id="rId17" Type="http://schemas.openxmlformats.org/officeDocument/2006/relationships/slide" Target="slides/slide2.xml"/><Relationship Id="rId20" Type="http://schemas.openxmlformats.org/officeDocument/2006/relationships/slide" Target="slides/slide7.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6.xml"/><Relationship Id="rId29"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11.xml"/><Relationship Id="rId36" Type="http://schemas.openxmlformats.org/officeDocument/2006/relationships/slide" Target="slides/slide13.xml"/><Relationship Id="rId37" Type="http://schemas.openxmlformats.org/officeDocument/2006/relationships/font" Target="fonts/Urbanist-regular.fntdata"/><Relationship Id="rId38" Type="http://schemas.openxmlformats.org/officeDocument/2006/relationships/font" Target="fonts/Urbanist-bold.fntdata"/><Relationship Id="rId39" Type="http://schemas.openxmlformats.org/officeDocument/2006/relationships/font" Target="fonts/Urbanist-italic.fntdata"/><Relationship Id="rId40" Type="http://schemas.openxmlformats.org/officeDocument/2006/relationships/font" Target="fonts/Urbanist-boldItalic.fntdata"/><Relationship Id="rId41" Type="http://schemas.openxmlformats.org/officeDocument/2006/relationships/font" Target="fonts/ReadexProMedium-regular.fntdata"/><Relationship Id="rId42" Type="http://schemas.openxmlformats.org/officeDocument/2006/relationships/font" Target="fonts/ReadexProMedium-bold.fntdata"/><Relationship Id="rId43" Type="http://schemas.openxmlformats.org/officeDocument/2006/relationships/font" Target="fonts/ReadexProSemiBold-regular.fntdata"/><Relationship Id="rId44" Type="http://schemas.openxmlformats.org/officeDocument/2006/relationships/font" Target="fonts/ReadexProSemiBold-bold.fntdata"/><Relationship Id="rId45" Type="http://schemas.openxmlformats.org/officeDocument/2006/relationships/font" Target="fonts/ReadexPro-regular.fntdata"/><Relationship Id="rId46" Type="http://schemas.openxmlformats.org/officeDocument/2006/relationships/font" Target="fonts/ReadexPro-bold.fntdata"/><Relationship Id="rId47" Type="http://schemas.openxmlformats.org/officeDocument/2006/relationships/font" Target="fonts/ReadexProLight-regular.fntdata"/><Relationship Id="rId48" Type="http://schemas.openxmlformats.org/officeDocument/2006/relationships/font" Target="fonts/ReadexProLight-bold.fntdata"/><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افتتاح (10 ثوانٍ): اسم المشروع والمسار 04. الرسالة: نحوّل السند إلى رسم يُفحص، ونُظهر مصدر كل معلومة وحالة دليلها.</a:t>
            </a:r>
            <a:endParaRPr/>
          </a:p>
          <a:p>
            <a:pPr indent="0" lvl="0" marL="0" rtl="0" algn="l">
              <a:spcBef>
                <a:spcPts val="0"/>
              </a:spcBef>
              <a:spcAft>
                <a:spcPts val="0"/>
              </a:spcAft>
              <a:buNone/>
            </a:pPr>
            <a:r>
              <a:t/>
            </a:r>
            <a:endParaRPr sz="1200"/>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ذكّر أن الذكاء الاصطناعي يُستدعى عند طلب المستخدم فقط، وأن الأقوال الأصلية والشجرة وفحص العلل لا تعتمد عليه.</a:t>
            </a:r>
            <a:endParaRPr/>
          </a:p>
          <a:p>
            <a:pPr indent="0" lvl="0" marL="0" rtl="0" algn="l">
              <a:spcBef>
                <a:spcPts val="0"/>
              </a:spcBef>
              <a:spcAft>
                <a:spcPts val="0"/>
              </a:spcAft>
              <a:buNone/>
            </a:pPr>
            <a:r>
              <a:t/>
            </a:r>
            <a:endParaRPr sz="1200"/>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الحل: أربع إمكانات. ابدأ بعد هذه الشريحة بالعرض الحي لا بالشرائح.</a:t>
            </a:r>
            <a:endParaRPr/>
          </a:p>
          <a:p>
            <a:pPr indent="0" lvl="0" marL="0" rtl="0" algn="l">
              <a:spcBef>
                <a:spcPts val="0"/>
              </a:spcBef>
              <a:spcAft>
                <a:spcPts val="0"/>
              </a:spcAft>
              <a:buNone/>
            </a:pPr>
            <a:r>
              <a:t/>
            </a:r>
            <a:endParaRPr sz="1200"/>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indent="0" lvl="0" marL="0" rtl="0" algn="l">
              <a:spcBef>
                <a:spcPts val="0"/>
              </a:spcBef>
              <a:spcAft>
                <a:spcPts val="0"/>
              </a:spcAft>
              <a:buNone/>
            </a:pPr>
            <a:r>
              <a:t/>
            </a:r>
            <a:endParaRPr sz="1200"/>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البيانات: تحقق من هذه الأرقام من الحالة النهائية للبيانات قبل العرض، وحدّثها إن تغيّرت بعد دمج بيانات الرجال.</a:t>
            </a:r>
            <a:endParaRPr/>
          </a:p>
          <a:p>
            <a:pPr indent="0" lvl="0" marL="0" rtl="0" algn="l">
              <a:spcBef>
                <a:spcPts val="0"/>
              </a:spcBef>
              <a:spcAft>
                <a:spcPts val="0"/>
              </a:spcAft>
              <a:buNone/>
            </a:pPr>
            <a:r>
              <a:t/>
            </a:r>
            <a:endParaRPr sz="1200"/>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القياس: اعرض ما نُفِّذ فعلاً فقط. حدّث الجدول بنتائج جلسات اختبار المستخدمين ودقة قواعد العلل فور توفرها، وأزل كلمة «مخطَّط» عند إنجاز البند.</a:t>
            </a:r>
          </a:p>
          <a:p/>
          <a:p/>
          <a:p>
            <a:r>
              <a:t>تنبيه: «10 من 10» اختبارات على منطق الكود. حقل تصنيف الأقوال (VerdictRating) فارغ في البيانات الحالية، فلافتة «اختلف العلماء» لا تظهر على الرابط الحي بعد؛ قل ذلك صراحة إن سُئلت.</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خطة الاستمرار: الأولويات بعد التسليم. أضف تكلفة التشغيل والاستضافة إن كانت معروفة.</a:t>
            </a:r>
          </a:p>
          <a:p/>
          <a:p/>
          <a:p>
            <a:r>
              <a:t>يُضاف إلى الأولويات: تصنيف أقوال العلماء (تعديل/جرح) في البيانات بمراجعة شرعية ليظهر الخلاف بينهم.</a:t>
            </a: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الفريق: فريق فردي (رقم الفريق 774)، وأنا أغطي الذكاء الاصطناعي والواجهات والخادم والبيانات والاختبار. المراجعة الشرعية للمصطلحات والحالات غير منجزة بعد، وهي مخطَّطة بعد التسليم (الشريحة 10). لا تدّعِ وجود متخصص شرعي في الفريق.</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indent="0" lvl="0" marL="0" rtl="0" algn="l">
              <a:spcBef>
                <a:spcPts val="0"/>
              </a:spcBef>
              <a:spcAft>
                <a:spcPts val="0"/>
              </a:spcAft>
              <a:buNone/>
            </a:pPr>
            <a:r>
              <a:t/>
            </a:r>
            <a:endParaRPr sz="1200"/>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من طرف الحديث إلى حالة الدليل. الأثر يُقاس باختبار مستخدمين (مخطَّط) فلا تدّعِ نتائج قبل إجرائه.</a:t>
            </a:r>
            <a:endParaRPr/>
          </a:p>
          <a:p>
            <a:pPr indent="0" lvl="0" marL="0" rtl="0" algn="l">
              <a:spcBef>
                <a:spcPts val="0"/>
              </a:spcBef>
              <a:spcAft>
                <a:spcPts val="0"/>
              </a:spcAft>
              <a:buNone/>
            </a:pPr>
            <a:r>
              <a:t/>
            </a:r>
            <a:endParaRPr sz="1200"/>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القيمة المضافة: نكمّل الشاملة والدرر السنية ولا نستبدلهما، ونحيل إليهما للحكم المعتمد.</a:t>
            </a:r>
            <a:endParaRPr/>
          </a:p>
          <a:p>
            <a:pPr indent="0" lvl="0" marL="0" rtl="0" algn="l">
              <a:spcBef>
                <a:spcPts val="0"/>
              </a:spcBef>
              <a:spcAft>
                <a:spcPts val="0"/>
              </a:spcAft>
              <a:buNone/>
            </a:pPr>
            <a:r>
              <a:t/>
            </a:r>
            <a:endParaRPr sz="1200"/>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الختام: الرابط الحي والمستودع العام. تأكد قبل العرض أن الرابط الحي يفتح وأن المستودع عام.</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شجرة الأسانيد الذكية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نحوّل السند إلى رسم يُفحص، ونُظهر مصدر كل معلومة وحالة دليلها، ونحيل عند غياب المرجع</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المسار 04</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 والمستفيد</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التحقق من السند مبعثر بين الكتب</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معيار النجاح</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تحقق أوضح وأسرع، ومصدر وحالة دليل ظاهران، وتمييز ما تؤيده المصادر مما يحتاج إلى تحقق أو إحالة</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سند يُرسم ويُفحص</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إمكانات في مكان واحد</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شجرة إسناد تفاعلية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رسم من الصحابي إلى المصنِّف يُبرز المدار، أي الراوي الذي تلتقي عنده الطرق</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فحص العلل</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قواعد المحدثين في كشف التدليس والاختلاط والانقطاع وغيرها، وهي تنبيهات لا أحكام</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أقوال الجرح والتعديل</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بنصها الحرفي، منسوبة لأصحابها ومصدرها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التخريج المقارن</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روايات الحديث من عدة كتب في شجرة واحدة</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آلية العمل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من الطلب إلى حالة الدليل</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خطوات</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طرف الحديث أو ألفاظه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نصي في كتب الحديث</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بناء شجرة الإسناد</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وفحص العلل آلياً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رسم السند والأقوال</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حالة الدليل</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تحقق أوضح</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سنقيسه مع مستخدمين</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يميّز الأداة</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عناصر الحل</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الذي يجعلها موثوقة</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ذكاء اصطناعي منضبط</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اقتباس حرفي يُتحقق منه،</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ويمتنع عند غياب المرجع</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قاموس المصطلحات</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تعريفات مبسطة بمقابل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إنجليزي داخل الواجهة</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أقوال منسوبة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تُعرض الأقوال بأسمائها</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مع مصدر كل قول</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حالة الدليل</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مؤيَّد بنص مصدر، أو</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يتطلب تحققاً، أو لا يوجد مرجع كافٍ</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السلامة العلمية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حدود واضحة لا تتجاوزها الأداة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منسجمة مع ضوابط المرجعية العلمية للتحدي</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حكم نهائي</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تُعرض الأقوال والمؤشرات، ويُحال إلى الدرر السنية وأهل الاختصاص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امتناع عند غياب المرجع</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راوٍ بلا أقوال مسجلة: لا تصنيف ولا تخمين، وتظهر عبارة «لا يوجد مرجع كافٍ»</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اقتباس حرفي يُتحقق منه</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يُرفض أي اقتباس لا يطابق نص الأقوال المسجلة، وأي درجة لا يعرفها المقياس</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شفافية دائمة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تنبيه ظاهر بأن الملخص مولَّد بمساعدة الذكاء الاصطناعي، مع الأقوال الأصلية</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البيانات</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قاعدة بيانات المشروع</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الحالة الراهنة</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31</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كتاب حديث</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مجموعة سنية مسندة</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274,597</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حديث وأثر</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مفهرس للبحث</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1,217,978</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حلقة إسناد</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شيخ ← تلميذ</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23,502</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راوٍ</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مرتبط بأقوال العلماء حيث تتوفر</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قاعدة بيانات المشروع، مبنية من المكتبة الشاملة</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المستخدمة</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واجهة المستخدم</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Next.js وReact وTypeScript</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رسم الأسانيد</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React Flow مع ELK للتخطيط</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الخادم</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‎.NET 9 بمعمارية نظيفة</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قاعدة البيانات</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SQL Server وEF Core</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الذكاء الاصطناعي</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Semantic Kernel مع Together (وGemini احتياطاً)</a:t>
            </a:r>
            <a:endParaRPr>
              <a:latin typeface="Readex Pro Light"/>
              <a:ea typeface="Readex Pro Light"/>
              <a:cs typeface="Readex Pro Light"/>
              <a:sym typeface="Readex Pro Light"/>
            </a:endParaRPr>
          </a:p>
        </p:txBody>
      </p:sp>
      <p:sp>
        <p:nvSpPr>
          <p:cNvPr id="518" name="Google Shape;518;p9"/>
          <p:cNvSpPr txBox="1"/>
          <p:nvPr>
            <p:ph idx="20" type="body"/>
          </p:nvPr>
        </p:nvSpPr>
        <p:spPr>
          <a:xfrm>
            <a:off x="1409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06</a:t>
            </a:r>
            <a:endParaRPr/>
          </a:p>
        </p:txBody>
      </p:sp>
      <p:sp>
        <p:nvSpPr>
          <p:cNvPr id="519" name="Google Shape;519;p9"/>
          <p:cNvSpPr txBox="1"/>
          <p:nvPr>
            <p:ph idx="21" type="body"/>
          </p:nvPr>
        </p:nvSpPr>
        <p:spPr>
          <a:xfrm>
            <a:off x="1409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الجودة</a:t>
            </a:r>
            <a:endParaRPr/>
          </a:p>
        </p:txBody>
      </p:sp>
      <p:sp>
        <p:nvSpPr>
          <p:cNvPr id="520" name="Google Shape;520;p9"/>
          <p:cNvSpPr txBox="1"/>
          <p:nvPr>
            <p:ph idx="22" type="body"/>
          </p:nvPr>
        </p:nvSpPr>
        <p:spPr>
          <a:xfrm>
            <a:off x="1409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xUnit وPlaywright وفحص الإتاحة (axe)</a:t>
            </a:r>
            <a:endParaRPr>
              <a:latin typeface="Readex Pro Light"/>
              <a:ea typeface="Readex Pro Light"/>
              <a:cs typeface="Readex Pro Light"/>
              <a:sym typeface="Readex Pr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القياس</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نقيس النجاح</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نُفِّذ وما هو مخطَّط، بوضوح</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النتيجة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الحالة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طريقة القياس</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المؤشر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مقارنة بمجموعة مرجعية من أحكام أئمة العلل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دقة قواعد فحص العلل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10 من 10</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منفَّذ</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اختبارات آلية على منطق الخلاف وحالة الدليل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منطق عرض الخلاف وحالة الدليل (تصنيف البيانات 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0 مخالفات</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منفَّذ</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فحص axe-core (WCAG 2.1 AA) لأربع صفحات رئيسية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الإتاحة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اختبار مع 3 إلى 5 مستخدمين (SEQ وSUS)</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سهولة الاستخدام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الأرقام المعروضة نتائج فعلية، وكل بند «مخطَّط» لم يُنفَّذ بعد</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الأولويات بعد التسليم</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التسليم</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6 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حل يعمل، ورابط حي، ومستودع عام</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قياس الدقة</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مجموعة مرجعية لقياس قواعد العلل</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الاختبار</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مستخدمين وتحسينات موثقة</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الإتاحة</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بديل نصي لرسم الشجرة لقارئات الشاشة</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شرعية للمصطلحات والحالات</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مقارنة مع المراجع القائمة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نكمّل المراجع ولا نستبدلها</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المكتبة الشاملة والدرر السنية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مراجع للنصوص والأحكام المعتمدة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شجرة الأسانيد الذكية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رسم الإسناد وفحصه</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نصوص كاملة وأحكام مرجعية موثوقة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السند يُقرأ نصاً، وجمع الطرق ومقارنتها جهد يدوي</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يناسب: الرجوع إلى النص والحكم المعتمد</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رسم الأسانيد عبر كتب الحديث وفحص العلل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لا تُصدر حكماً ولا تغني عن المصادر</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يناسب: التحقق الأولي ومقارنة الطرق قبل الرجوع للحكم</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المسار 04 · أدوات المعرفة والتحقق</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694" name="Google Shape;694;p19"/>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قائد الفريق · الذكاء الاصطناعي وقواعد العلل</a:t>
            </a:r>
            <a:endParaRPr/>
          </a:p>
        </p:txBody>
      </p:sp>
      <p:sp>
        <p:nvSpPr>
          <p:cNvPr id="695" name="Google Shape;695;p19"/>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697" name="Google Shape;697;p19"/>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الواجهات والخادم والبيانات</a:t>
            </a:r>
            <a:endParaRPr/>
          </a:p>
        </p:txBody>
      </p:sp>
      <p:sp>
        <p:nvSpPr>
          <p:cNvPr id="698" name="Google Shape;698;p19"/>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مخطَّطة</a:t>
            </a:r>
            <a:endParaRPr/>
          </a:p>
        </p:txBody>
      </p:sp>
      <p:sp>
        <p:nvSpPr>
          <p:cNvPr id="700" name="Google Shape;700;p19"/>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متخصص شرعي بعد التسليم</a:t>
            </a:r>
            <a:endParaRPr/>
          </a:p>
        </p:txBody>
      </p:sp>
      <p:sp>
        <p:nvSpPr>
          <p:cNvPr id="701" name="Google Shape;701;p19"/>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702" name="Google Shape;702;p19"/>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703" name="Google Shape;703;p19"/>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تجربة المستخدم والاختبار</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شجرة الأسانيد الذكية · الرابط الحي: smart-hadith.idealisticsolutions.com</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github.com/Abdelrahman984/smart-hadith-tree-web-public</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