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Lst>
  <p:notesMasterIdLst>
    <p:notesMasterId r:id="rId17"/>
  </p:notesMasterIdLst>
  <p:sldIdLst>
    <p:sldId id="256" r:id="rId4"/>
    <p:sldId id="257" r:id="rId5"/>
    <p:sldId id="258" r:id="rId6"/>
    <p:sldId id="259" r:id="rId7"/>
    <p:sldId id="271" r:id="rId23"/>
    <p:sldId id="272" r:id="rId24"/>
    <p:sldId id="273" r:id="rId25"/>
    <p:sldId id="274" r:id="rId26"/>
    <p:sldId id="260" r:id="rId8"/>
    <p:sldId id="261" r:id="rId9"/>
    <p:sldId id="262" r:id="rId10"/>
    <p:sldId id="263" r:id="rId11"/>
    <p:sldId id="264" r:id="rId12"/>
    <p:sldId id="265" r:id="rId13"/>
    <p:sldId id="266" r:id="rId14"/>
    <p:sldId id="267" r:id="rId15"/>
    <p:sldId id="268" r:id="rId16"/>
  </p:sldIdLst>
  <p:sldSz cx="18288000" cy="10287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B8ED9858-D163-4338-9E88-1F424354888F}">
  <a:tblStyle styleId="{B8ED9858-D163-4338-9E88-1F424354888F}" styleName="Table_0">
    <a:wholeTbl>
      <a:tcTxStyle>
        <a:srgbClr val="000000"/>
      </a:tcTxStyle>
      <a:tcStyle>
        <a:tcBdr>
          <a:left>
            <a:ln>
              <a:noFill/>
            </a:ln>
          </a:left>
          <a:right>
            <a:ln>
              <a:noFill/>
            </a:ln>
          </a:right>
          <a:top>
            <a:ln>
              <a:noFill/>
            </a:ln>
          </a:top>
          <a:bottom>
            <a:ln>
              <a:noFill/>
            </a:ln>
          </a:bottom>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32766" d="530282864"/>
          <a:sy n="32766" d="3"/>
        </p:scale>
        <p:origin x="-649587408" y="496"/>
      </p:cViewPr>
      <p:guideLst>
        <p:guide pos="5760"/>
        <p:guide pos="324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tableStyles" Target="tableStyles.xml"/><Relationship Id="rId20" Type="http://schemas.openxmlformats.org/officeDocument/2006/relationships/viewProps" Target="viewProps.xml"/><Relationship Id="rId23" Type="http://schemas.openxmlformats.org/officeDocument/2006/relationships/slide" Target="slides/slide5.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Pr shadeToTitle="0">
        <a:solidFill>
          <a:schemeClr val="lt1"/>
        </a:solidFill>
      </p:bgPr>
    </p:bg>
    <p:spTree>
      <p:nvGrpSpPr>
        <p:cNvPr id="1" name=""/>
        <p:cNvGrpSpPr/>
        <p:nvPr/>
      </p:nvGrpSpPr>
      <p:grpSpPr bwMode="auto">
        <a:xfrm>
          <a:off x="0" y="0"/>
          <a:ext cx="0" cy="0"/>
          <a:chOff x="0" y="0"/>
          <a:chExt cx="0" cy="0"/>
        </a:xfrm>
      </p:grpSpPr>
      <p:sp>
        <p:nvSpPr>
          <p:cNvPr id="1016821308" name="Google Shape;3;n"/>
          <p:cNvSpPr txBox="1"/>
          <p:nvPr>
            <p:ph type="hdr" idx="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640498849" name="Google Shape;4;n"/>
          <p:cNvSpPr txBox="1"/>
          <p:nvPr>
            <p:ph type="dt" idx="10"/>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2040975614" name="Google Shape;5;n"/>
          <p:cNvSpPr/>
          <p:nvPr>
            <p:ph type="sldImg" idx="3"/>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490635332" name="Google Shape;6;n"/>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pPr>
              <a:defRPr/>
            </a:pPr>
            <a:endParaRPr/>
          </a:p>
        </p:txBody>
      </p:sp>
      <p:sp>
        <p:nvSpPr>
          <p:cNvPr id="519997509" name="Google Shape;7;n"/>
          <p:cNvSpPr txBox="1"/>
          <p:nvPr>
            <p:ph type="ftr" idx="1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431748114" name="Google Shape;8;n"/>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defRPr/>
            </a:pPr>
            <a:endParaRPr sz="18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19388441" name="Google Shape;480;p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981871322" name="Google Shape;481;p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افتتاح (10 ثوانٍ): اسم المشروع والمسار 04. الرسالة: نحوّل السند إلى رسم يُفحص، ونُظهر مصدر كل معلومة وحالة دليلها.</a:t>
            </a:r>
            <a:endParaRPr/>
          </a:p>
          <a:p>
            <a:pPr marL="0" lvl="0" indent="0" algn="l" rtl="0">
              <a:spcBef>
                <a:spcPts val="0"/>
              </a:spcBef>
              <a:spcAft>
                <a:spcPts val="0"/>
              </a:spcAft>
              <a:buNone/>
              <a:defRPr/>
            </a:pPr>
            <a:endParaRPr sz="1200"/>
          </a:p>
        </p:txBody>
      </p:sp>
      <p:sp>
        <p:nvSpPr>
          <p:cNvPr id="1481759727" name="Google Shape;482;p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855872702" name="Google Shape;552;p12: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732893087" name="Google Shape;553;p12: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المشكلة (30 ثانية): من المستفيد؟ المعرِّف بالإسلام والباحث. حاجته: التحقق من اتصال السند وأقوال العلماء في الرواة. ثم معيار نجاح المسار 04.</a:t>
            </a:r>
            <a:endParaRPr/>
          </a:p>
          <a:p>
            <a:pPr marL="0" lvl="0" indent="0" algn="l" rtl="0">
              <a:spcBef>
                <a:spcPts val="0"/>
              </a:spcBef>
              <a:spcAft>
                <a:spcPts val="0"/>
              </a:spcAft>
              <a:buNone/>
              <a:defRPr/>
            </a:pPr>
            <a:endParaRPr sz="1200"/>
          </a:p>
        </p:txBody>
      </p:sp>
      <p:sp>
        <p:nvSpPr>
          <p:cNvPr id="1301110757" name="Google Shape;554;p12: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087402498" name="Google Shape;532;p1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642591098" name="Google Shape;533;p1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الحل: أربع إمكانات. ابدأ بعد هذه الشريحة بالعرض الحي لا بالشرائح.</a:t>
            </a:r>
            <a:endParaRPr/>
          </a:p>
          <a:p>
            <a:pPr marL="0" lvl="0" indent="0" algn="l" rtl="0">
              <a:spcBef>
                <a:spcPts val="0"/>
              </a:spcBef>
              <a:spcAft>
                <a:spcPts val="0"/>
              </a:spcAft>
              <a:buNone/>
              <a:defRPr/>
            </a:pPr>
            <a:endParaRPr sz="1200"/>
          </a:p>
        </p:txBody>
      </p:sp>
      <p:sp>
        <p:nvSpPr>
          <p:cNvPr id="704818828" name="Google Shape;534;p1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50256555" name="Google Shape;813;p24: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06609487" name="Google Shape;814;p24: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آلية العمل: من طرف الحديث إلى حالة الدليل. الأثر يُقاس باختبار مستخدمين (مخطَّط) فلا تدّعِ نتائج قبل إجرائه.</a:t>
            </a:r>
            <a:endParaRPr/>
          </a:p>
          <a:p>
            <a:pPr marL="0" lvl="0" indent="0" algn="l" rtl="0">
              <a:spcBef>
                <a:spcPts val="0"/>
              </a:spcBef>
              <a:spcAft>
                <a:spcPts val="0"/>
              </a:spcAft>
              <a:buNone/>
              <a:defRPr/>
            </a:pPr>
            <a:endParaRPr sz="1200"/>
          </a:p>
        </p:txBody>
      </p:sp>
      <p:sp>
        <p:nvSpPr>
          <p:cNvPr id="824757260" name="Google Shape;815;p24: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739236712" name="Google Shape;854;p2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384065987" name="Google Shape;855;p2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ما يميّز الأداة: الذكاء الاصطناعي المنضبط، والقاموس، والأقوال المنسوبة بنصها ومصدرها، وحالة الدليل. عرض الخلاف بين العلماء مبني في الواجهة لكن تصنيف الأقوال (تعديل/جرح) في البيانات لم يُملأ بعد، فلا نعرضه كميزة تعمل اليوم.</a:t>
            </a:r>
            <a:endParaRPr/>
          </a:p>
        </p:txBody>
      </p:sp>
      <p:sp>
        <p:nvSpPr>
          <p:cNvPr id="545653389" name="Google Shape;856;p2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380844292" name="Google Shape;705;p20: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025657458" name="Google Shape;706;p20: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السلامة العلمية: اذكر الحدود بنفسك قبل أن تُسأل. لا فتوى ولا حكم نهائي، وامتناع عند غياب المرجع، واقتباس يُتحقق منه، وتنبيه ظاهر. هذا يقلل الاختلاق ولا يدّعي إلغاءه.</a:t>
            </a:r>
            <a:endParaRPr/>
          </a:p>
          <a:p>
            <a:pPr marL="0" lvl="0" indent="0" algn="l" rtl="0">
              <a:spcBef>
                <a:spcPts val="0"/>
              </a:spcBef>
              <a:spcAft>
                <a:spcPts val="0"/>
              </a:spcAft>
              <a:buNone/>
              <a:defRPr/>
            </a:pPr>
            <a:endParaRPr sz="1200"/>
          </a:p>
        </p:txBody>
      </p:sp>
      <p:sp>
        <p:nvSpPr>
          <p:cNvPr id="1225699069" name="Google Shape;707;p20: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23109797" name="Google Shape;597;p15: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29625063" name="Google Shape;598;p15: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البيانات: تحقق من هذه الأرقام من الحالة النهائية للبيانات قبل العرض، وحدّثها إن تغيّرت بعد دمج بيانات الرجال.</a:t>
            </a:r>
            <a:endParaRPr/>
          </a:p>
          <a:p>
            <a:pPr marL="0" lvl="0" indent="0" algn="l" rtl="0">
              <a:spcBef>
                <a:spcPts val="0"/>
              </a:spcBef>
              <a:spcAft>
                <a:spcPts val="0"/>
              </a:spcAft>
              <a:buNone/>
              <a:defRPr/>
            </a:pPr>
            <a:endParaRPr sz="1200"/>
          </a:p>
        </p:txBody>
      </p:sp>
      <p:sp>
        <p:nvSpPr>
          <p:cNvPr id="1575138484" name="Google Shape;599;p15: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97808076" name="Google Shape;494;p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314763265" name="Google Shape;495;p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التقنيات: ذكّر أن الذكاء الاصطناعي يُستدعى عند طلب المستخدم فقط، وأن الأقوال الأصلية والشجرة وفحص العلل لا تعتمد عليه.</a:t>
            </a:r>
            <a:endParaRPr/>
          </a:p>
          <a:p>
            <a:pPr marL="0" lvl="0" indent="0" algn="l" rtl="0">
              <a:spcBef>
                <a:spcPts val="0"/>
              </a:spcBef>
              <a:spcAft>
                <a:spcPts val="0"/>
              </a:spcAft>
              <a:buNone/>
              <a:defRPr/>
            </a:pPr>
            <a:endParaRPr sz="1200"/>
          </a:p>
        </p:txBody>
      </p:sp>
      <p:sp>
        <p:nvSpPr>
          <p:cNvPr id="1965344755" name="Google Shape;496;p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00419092" name="Google Shape;633;p1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455999111" name="Google Shape;634;p1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r>
              <a:t>القياس: اعرض ما اكتمل فعلاً فقط. بندا «دقة قواعد العلل» و«اختبار المستخدمين» قيد التنفيذ ولم تصدر نتيجتهما؛ لا تذكر لهما رقماً. حدّث الجدول بالنتائج الفعلية فور صدورها، وأحضرها في العرض النهائي إن تأهلنا. تنبيه: «10 من 10» اختبارات على منطق الكود، وحقل تصنيف الأقوال (VerdictRating) فارغ في البيانات الحالية.</a:t>
            </a:r>
          </a:p>
        </p:txBody>
      </p:sp>
      <p:sp>
        <p:nvSpPr>
          <p:cNvPr id="4880420" name="Google Shape;635;p1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040974666" name="Google Shape;646;p1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782173579" name="Google Shape;647;p1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خطة الاستمرار: الأولويات بعد التسليم. أضف تكلفة التشغيل والاستضافة إن كانت معروفة.</a:t>
            </a:r>
            <a:endParaRPr/>
          </a:p>
          <a:p>
            <a:pPr>
              <a:defRPr/>
            </a:pPr>
            <a:endParaRPr/>
          </a:p>
          <a:p>
            <a:pPr>
              <a:defRPr/>
            </a:pPr>
            <a:endParaRPr/>
          </a:p>
          <a:p>
            <a:pPr>
              <a:defRPr/>
            </a:pPr>
            <a:r>
              <a:rPr/>
              <a:t>يُضاف إلى الأولويات: تصنيف أقوال العلماء (تعديل/جرح) في البيانات بمراجعة شرعية ليظهر الخلاف بينهم.</a:t>
            </a:r>
            <a:endParaRPr/>
          </a:p>
        </p:txBody>
      </p:sp>
      <p:sp>
        <p:nvSpPr>
          <p:cNvPr id="284525249" name="Google Shape;648;p1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129254871" name="Google Shape;877;p2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600729357" name="Google Shape;878;p2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القيمة المضافة: نكمّل الشاملة والدرر السنية ولا نستبدلهما، ونحيل إليهما للحكم المعتمد.</a:t>
            </a:r>
            <a:endParaRPr/>
          </a:p>
          <a:p>
            <a:pPr marL="0" lvl="0" indent="0" algn="l" rtl="0">
              <a:spcBef>
                <a:spcPts val="0"/>
              </a:spcBef>
              <a:spcAft>
                <a:spcPts val="0"/>
              </a:spcAft>
              <a:buNone/>
              <a:defRPr/>
            </a:pPr>
            <a:endParaRPr sz="1200"/>
          </a:p>
        </p:txBody>
      </p:sp>
      <p:sp>
        <p:nvSpPr>
          <p:cNvPr id="2011384972" name="Google Shape;879;p2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375130853" name="Google Shape;682;p1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653927890" name="Google Shape;683;p1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r>
              <a:t>الفريق: فريق فردي (رقم الفريق 774). المطوّر والقائد يغطي الذكاء الاصطناعي وقواعد العلل والواجهات والخادم والبيانات وتجربة المستخدم والاختبار. المراجعة الشرعية غير منجزة بعد، وهي مخطَّطة بعد التسليم. لا تدّعِ وجود متخصص شرعي في الفريق.</a:t>
            </a:r>
          </a:p>
        </p:txBody>
      </p:sp>
      <p:sp>
        <p:nvSpPr>
          <p:cNvPr id="2106327383" name="Google Shape;684;p1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998675226" name="Google Shape;910;p3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839029987" name="Google Shape;911;p3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الختام: الرابط الحي والمستودع العام. تأكد قبل العرض أن الرابط الحي يفتح وأن المستودع عام.</a:t>
            </a:r>
            <a:endParaRPr/>
          </a:p>
        </p:txBody>
      </p:sp>
      <p:sp>
        <p:nvSpPr>
          <p:cNvPr id="1161316774" name="Google Shape;912;p3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لقطة حقيقية من الرابط الحي: البحث يرجع 12 رواية من عدة كتب والعبارة موجودة حرفياً.</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هذه هي الفكرة الرئيسية: أسانيد كثيرة من كتب متعددة في رسم واحد، تلتقي عند مدارات (حبيب بن أبي ثابت وسفيان الثوري وليث بن أبي سليم). الألوان تفرّق الكتب، والخط المنقط يدل على موضع انتباه.</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فحص العلل يرصد عنعنة حبيب بن أبي ثابت (مدلس المرتبة 3) عن ميمون بن أبي شبيب بلا تصريح بالسماع. النتيجة تنبيه آلي وليست حكماً. لا تضغط «اشرح العلل بالذكاء الاصطناعي» أثناء العرض إلا بعد تجربته.</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درج الراوي يعرض ترجمته وحالة الدليل، ولا يصدر حكماً: الأقوال غير مصنَّفة في البيانات فيُطلب من المستخدم قراءتها بنفسه.</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DEFAULT" preserve="0" showMasterPhAnim="0" showMasterSp="1" userDrawn="1">
  <p:cSld name="DEFAULT">
    <p:bg>
      <p:bgPr shadeToTitle="0">
        <a:solidFill>
          <a:schemeClr val="lt1"/>
        </a:solidFill>
      </p:bgPr>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غلاف المشروع" preserve="0" showMasterPhAnim="0" showMasterSp="1" userDrawn="1">
  <p:cSld name="غلاف المشروع">
    <p:bg>
      <p:bgPr shadeToTitle="0">
        <a:solidFill>
          <a:srgbClr val="12183F"/>
        </a:solidFill>
      </p:bgPr>
    </p:bg>
    <p:spTree>
      <p:nvGrpSpPr>
        <p:cNvPr id="1" name=""/>
        <p:cNvGrpSpPr/>
        <p:nvPr/>
      </p:nvGrpSpPr>
      <p:grpSpPr bwMode="auto">
        <a:xfrm>
          <a:off x="0" y="0"/>
          <a:ext cx="0" cy="0"/>
          <a:chOff x="0" y="0"/>
          <a:chExt cx="0" cy="0"/>
        </a:xfrm>
      </p:grpSpPr>
      <p:pic>
        <p:nvPicPr>
          <p:cNvPr id="1029905017" name="Google Shape;12;p3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669266357" name="Google Shape;13;p34"/>
          <p:cNvPicPr/>
          <p:nvPr/>
        </p:nvPicPr>
        <p:blipFill rotWithShape="1">
          <a:blip r:embed="rId3">
            <a:alphaModFix/>
          </a:blip>
          <a:srcRect l="0" t="0" r="0" b="0"/>
          <a:stretch/>
        </p:blipFill>
        <p:spPr bwMode="auto">
          <a:xfrm>
            <a:off x="1066800" y="876872"/>
            <a:ext cx="6572250" cy="1684781"/>
          </a:xfrm>
          <a:prstGeom prst="rect">
            <a:avLst/>
          </a:prstGeom>
          <a:noFill/>
          <a:ln>
            <a:noFill/>
          </a:ln>
        </p:spPr>
      </p:pic>
      <p:pic>
        <p:nvPicPr>
          <p:cNvPr id="1695804780" name="Google Shape;14;p34"/>
          <p:cNvPicPr/>
          <p:nvPr/>
        </p:nvPicPr>
        <p:blipFill rotWithShape="1">
          <a:blip r:embed="rId4">
            <a:alphaModFix/>
          </a:blip>
          <a:srcRect l="0" t="0" r="0" b="0"/>
          <a:stretch/>
        </p:blipFill>
        <p:spPr bwMode="auto">
          <a:xfrm>
            <a:off x="14954250" y="840995"/>
            <a:ext cx="2190750" cy="1385061"/>
          </a:xfrm>
          <a:prstGeom prst="rect">
            <a:avLst/>
          </a:prstGeom>
          <a:noFill/>
          <a:ln>
            <a:noFill/>
          </a:ln>
        </p:spPr>
      </p:pic>
      <p:pic>
        <p:nvPicPr>
          <p:cNvPr id="1225448335" name="Google Shape;15;p34"/>
          <p:cNvPicPr/>
          <p:nvPr/>
        </p:nvPicPr>
        <p:blipFill rotWithShape="1">
          <a:blip r:embed="rId5">
            <a:alphaModFix/>
          </a:blip>
          <a:srcRect l="0" t="0" r="0" b="0"/>
          <a:stretch/>
        </p:blipFill>
        <p:spPr bwMode="auto">
          <a:xfrm>
            <a:off x="1078258" y="3190875"/>
            <a:ext cx="6701734" cy="6191250"/>
          </a:xfrm>
          <a:prstGeom prst="rect">
            <a:avLst/>
          </a:prstGeom>
          <a:noFill/>
          <a:ln>
            <a:noFill/>
          </a:ln>
        </p:spPr>
      </p:pic>
      <p:sp>
        <p:nvSpPr>
          <p:cNvPr id="1803014721" name="Google Shape;16;p34"/>
          <p:cNvSpPr txBox="1"/>
          <p:nvPr>
            <p:ph type="title"/>
          </p:nvPr>
        </p:nvSpPr>
        <p:spPr bwMode="auto">
          <a:xfrm>
            <a:off x="8096250" y="3524250"/>
            <a:ext cx="9048750" cy="1333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5597879" name="Google Shape;17;p34"/>
          <p:cNvSpPr txBox="1"/>
          <p:nvPr>
            <p:ph type="body" idx="1"/>
          </p:nvPr>
        </p:nvSpPr>
        <p:spPr bwMode="auto">
          <a:xfrm>
            <a:off x="8096250" y="5334000"/>
            <a:ext cx="9048750" cy="1619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2017679" name="Google Shape;18;p34"/>
          <p:cNvSpPr txBox="1"/>
          <p:nvPr>
            <p:ph type="body" idx="2"/>
          </p:nvPr>
        </p:nvSpPr>
        <p:spPr bwMode="auto">
          <a:xfrm>
            <a:off x="8953500" y="7762875"/>
            <a:ext cx="81915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1427366" name="Google Shape;19;p34"/>
          <p:cNvSpPr txBox="1"/>
          <p:nvPr>
            <p:ph type="body" idx="3"/>
          </p:nvPr>
        </p:nvSpPr>
        <p:spPr bwMode="auto">
          <a:xfrm>
            <a:off x="1066800" y="9391650"/>
            <a:ext cx="5429250" cy="4953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حتويات العرض" preserve="0" showMasterPhAnim="0" showMasterSp="1" userDrawn="1">
  <p:cSld name="محتويات العرض">
    <p:bg>
      <p:bgPr shadeToTitle="0">
        <a:solidFill>
          <a:srgbClr val="12183F"/>
        </a:solidFill>
      </p:bgPr>
    </p:bg>
    <p:spTree>
      <p:nvGrpSpPr>
        <p:cNvPr id="1" name=""/>
        <p:cNvGrpSpPr/>
        <p:nvPr/>
      </p:nvGrpSpPr>
      <p:grpSpPr bwMode="auto">
        <a:xfrm>
          <a:off x="0" y="0"/>
          <a:ext cx="0" cy="0"/>
          <a:chOff x="0" y="0"/>
          <a:chExt cx="0" cy="0"/>
        </a:xfrm>
      </p:grpSpPr>
      <p:pic>
        <p:nvPicPr>
          <p:cNvPr id="1226907740" name="Google Shape;21;p3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55763720" name="Google Shape;22;p3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854394803" name="Google Shape;23;p3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99585106" name="Google Shape;24;p3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33191295" name="Google Shape;25;p3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616371325" name="Google Shape;26;p3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052872936" name="Google Shape;27;p35"/>
          <p:cNvSpPr txBox="1"/>
          <p:nvPr>
            <p:ph type="body" idx="2"/>
          </p:nvPr>
        </p:nvSpPr>
        <p:spPr bwMode="auto">
          <a:xfrm>
            <a:off x="12382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56417393" name="Google Shape;28;p35"/>
          <p:cNvSpPr txBox="1"/>
          <p:nvPr>
            <p:ph type="body" idx="3"/>
          </p:nvPr>
        </p:nvSpPr>
        <p:spPr bwMode="auto">
          <a:xfrm>
            <a:off x="12382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30824938" name="Google Shape;29;p35"/>
          <p:cNvSpPr txBox="1"/>
          <p:nvPr>
            <p:ph type="body" idx="4"/>
          </p:nvPr>
        </p:nvSpPr>
        <p:spPr bwMode="auto">
          <a:xfrm>
            <a:off x="12382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94479602" name="Google Shape;30;p35"/>
          <p:cNvSpPr txBox="1"/>
          <p:nvPr>
            <p:ph type="body" idx="5"/>
          </p:nvPr>
        </p:nvSpPr>
        <p:spPr bwMode="auto">
          <a:xfrm>
            <a:off x="7048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40843571" name="Google Shape;31;p35"/>
          <p:cNvSpPr txBox="1"/>
          <p:nvPr>
            <p:ph type="body" idx="6"/>
          </p:nvPr>
        </p:nvSpPr>
        <p:spPr bwMode="auto">
          <a:xfrm>
            <a:off x="7048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04275713" name="Google Shape;32;p35"/>
          <p:cNvSpPr txBox="1"/>
          <p:nvPr>
            <p:ph type="body" idx="7"/>
          </p:nvPr>
        </p:nvSpPr>
        <p:spPr bwMode="auto">
          <a:xfrm>
            <a:off x="7048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07424945" name="Google Shape;33;p35"/>
          <p:cNvSpPr txBox="1"/>
          <p:nvPr>
            <p:ph type="body" idx="8"/>
          </p:nvPr>
        </p:nvSpPr>
        <p:spPr bwMode="auto">
          <a:xfrm>
            <a:off x="1714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3345809" name="Google Shape;34;p35"/>
          <p:cNvSpPr txBox="1"/>
          <p:nvPr>
            <p:ph type="body" idx="9"/>
          </p:nvPr>
        </p:nvSpPr>
        <p:spPr bwMode="auto">
          <a:xfrm>
            <a:off x="1714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85725158" name="Google Shape;35;p35"/>
          <p:cNvSpPr txBox="1"/>
          <p:nvPr>
            <p:ph type="body" idx="13"/>
          </p:nvPr>
        </p:nvSpPr>
        <p:spPr bwMode="auto">
          <a:xfrm>
            <a:off x="1714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4014279" name="Google Shape;36;p35"/>
          <p:cNvSpPr txBox="1"/>
          <p:nvPr>
            <p:ph type="body" idx="14"/>
          </p:nvPr>
        </p:nvSpPr>
        <p:spPr bwMode="auto">
          <a:xfrm>
            <a:off x="12382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0621328" name="Google Shape;37;p35"/>
          <p:cNvSpPr txBox="1"/>
          <p:nvPr>
            <p:ph type="body" idx="15"/>
          </p:nvPr>
        </p:nvSpPr>
        <p:spPr bwMode="auto">
          <a:xfrm>
            <a:off x="12382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633078" name="Google Shape;38;p35"/>
          <p:cNvSpPr txBox="1"/>
          <p:nvPr>
            <p:ph type="body" idx="16"/>
          </p:nvPr>
        </p:nvSpPr>
        <p:spPr bwMode="auto">
          <a:xfrm>
            <a:off x="12382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9495597" name="Google Shape;39;p35"/>
          <p:cNvSpPr txBox="1"/>
          <p:nvPr>
            <p:ph type="body" idx="17"/>
          </p:nvPr>
        </p:nvSpPr>
        <p:spPr bwMode="auto">
          <a:xfrm>
            <a:off x="7048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1118854" name="Google Shape;40;p35"/>
          <p:cNvSpPr txBox="1"/>
          <p:nvPr>
            <p:ph type="body" idx="18"/>
          </p:nvPr>
        </p:nvSpPr>
        <p:spPr bwMode="auto">
          <a:xfrm>
            <a:off x="7048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1086549" name="Google Shape;41;p35"/>
          <p:cNvSpPr txBox="1"/>
          <p:nvPr>
            <p:ph type="body" idx="19"/>
          </p:nvPr>
        </p:nvSpPr>
        <p:spPr bwMode="auto">
          <a:xfrm>
            <a:off x="7048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940092" name="Google Shape;42;p35"/>
          <p:cNvSpPr txBox="1"/>
          <p:nvPr>
            <p:ph type="body" idx="20"/>
          </p:nvPr>
        </p:nvSpPr>
        <p:spPr bwMode="auto">
          <a:xfrm>
            <a:off x="1714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66707621" name="Google Shape;43;p35"/>
          <p:cNvSpPr txBox="1"/>
          <p:nvPr>
            <p:ph type="body" idx="21"/>
          </p:nvPr>
        </p:nvSpPr>
        <p:spPr bwMode="auto">
          <a:xfrm>
            <a:off x="1714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27865893" name="Google Shape;44;p35"/>
          <p:cNvSpPr txBox="1"/>
          <p:nvPr>
            <p:ph type="body" idx="22"/>
          </p:nvPr>
        </p:nvSpPr>
        <p:spPr bwMode="auto">
          <a:xfrm>
            <a:off x="1714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صل قسم" preserve="0" showMasterPhAnim="0" showMasterSp="1" userDrawn="1">
  <p:cSld name="فاصل قسم">
    <p:bg>
      <p:bgPr shadeToTitle="0">
        <a:solidFill>
          <a:srgbClr val="12183F"/>
        </a:solidFill>
      </p:bgPr>
    </p:bg>
    <p:spTree>
      <p:nvGrpSpPr>
        <p:cNvPr id="1" name=""/>
        <p:cNvGrpSpPr/>
        <p:nvPr/>
      </p:nvGrpSpPr>
      <p:grpSpPr bwMode="auto">
        <a:xfrm>
          <a:off x="0" y="0"/>
          <a:ext cx="0" cy="0"/>
          <a:chOff x="0" y="0"/>
          <a:chExt cx="0" cy="0"/>
        </a:xfrm>
      </p:grpSpPr>
      <p:pic>
        <p:nvPicPr>
          <p:cNvPr id="2018312239" name="Google Shape;46;p3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759865920" name="Google Shape;47;p36"/>
          <p:cNvPicPr/>
          <p:nvPr/>
        </p:nvPicPr>
        <p:blipFill rotWithShape="1">
          <a:blip r:embed="rId3">
            <a:alphaModFix/>
          </a:blip>
          <a:srcRect l="0" t="0" r="0" b="0"/>
          <a:stretch/>
        </p:blipFill>
        <p:spPr bwMode="auto">
          <a:xfrm>
            <a:off x="1066800" y="687391"/>
            <a:ext cx="4000500" cy="1025519"/>
          </a:xfrm>
          <a:prstGeom prst="rect">
            <a:avLst/>
          </a:prstGeom>
          <a:noFill/>
          <a:ln>
            <a:noFill/>
          </a:ln>
        </p:spPr>
      </p:pic>
      <p:sp>
        <p:nvSpPr>
          <p:cNvPr id="557704193" name="Google Shape;48;p36"/>
          <p:cNvSpPr txBox="1"/>
          <p:nvPr>
            <p:ph type="body" idx="1"/>
          </p:nvPr>
        </p:nvSpPr>
        <p:spPr bwMode="auto">
          <a:xfrm>
            <a:off x="13430250" y="3143250"/>
            <a:ext cx="3619500" cy="1238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64812102" name="Google Shape;49;p36"/>
          <p:cNvSpPr txBox="1"/>
          <p:nvPr>
            <p:ph type="title"/>
          </p:nvPr>
        </p:nvSpPr>
        <p:spPr bwMode="auto">
          <a:xfrm>
            <a:off x="4953000" y="4810125"/>
            <a:ext cx="12096750" cy="12382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93738106" name="Google Shape;50;p36"/>
          <p:cNvSpPr txBox="1"/>
          <p:nvPr>
            <p:ph type="body" idx="2"/>
          </p:nvPr>
        </p:nvSpPr>
        <p:spPr bwMode="auto">
          <a:xfrm>
            <a:off x="6667500" y="6572250"/>
            <a:ext cx="10382250" cy="1047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preserve="0" showMasterPhAnim="0" showMasterSp="1" userDrawn="1">
  <p:cSld name="أربع نقاط">
    <p:bg>
      <p:bgPr shadeToTitle="0">
        <a:solidFill>
          <a:srgbClr val="12183F"/>
        </a:solidFill>
      </p:bgPr>
    </p:bg>
    <p:spTree>
      <p:nvGrpSpPr>
        <p:cNvPr id="1" name=""/>
        <p:cNvGrpSpPr/>
        <p:nvPr/>
      </p:nvGrpSpPr>
      <p:grpSpPr bwMode="auto">
        <a:xfrm>
          <a:off x="0" y="0"/>
          <a:ext cx="0" cy="0"/>
          <a:chOff x="0" y="0"/>
          <a:chExt cx="0" cy="0"/>
        </a:xfrm>
      </p:grpSpPr>
      <p:pic>
        <p:nvPicPr>
          <p:cNvPr id="2090438456" name="Google Shape;52;p3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5119224" name="Google Shape;53;p37"/>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38058110" name="Google Shape;54;p3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46113877" name="Google Shape;55;p3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0465076" name="Google Shape;56;p3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18059171" name="Google Shape;57;p3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44589485" name="Google Shape;58;p3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497698257" name="Google Shape;59;p37"/>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13311392" name="Google Shape;60;p37"/>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43621160" name="Google Shape;61;p37"/>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44016255" name="Google Shape;62;p37"/>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0348133" name="Google Shape;63;p37"/>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7438248" name="Google Shape;64;p37"/>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00264267" name="Google Shape;65;p37"/>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34630460" name="Google Shape;66;p37"/>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رئيسي" preserve="0" showMasterPhAnim="0" showMasterSp="1" userDrawn="1">
  <p:cSld name="نص رئيسي">
    <p:bg>
      <p:bgPr shadeToTitle="0">
        <a:solidFill>
          <a:srgbClr val="12183F"/>
        </a:solidFill>
      </p:bgPr>
    </p:bg>
    <p:spTree>
      <p:nvGrpSpPr>
        <p:cNvPr id="1" name=""/>
        <p:cNvGrpSpPr/>
        <p:nvPr/>
      </p:nvGrpSpPr>
      <p:grpSpPr bwMode="auto">
        <a:xfrm>
          <a:off x="0" y="0"/>
          <a:ext cx="0" cy="0"/>
          <a:chOff x="0" y="0"/>
          <a:chExt cx="0" cy="0"/>
        </a:xfrm>
      </p:grpSpPr>
      <p:pic>
        <p:nvPicPr>
          <p:cNvPr id="1331703361" name="Google Shape;68;p3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73893655" name="Google Shape;69;p3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51497493" name="Google Shape;70;p3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4386864" name="Google Shape;71;p3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91715541" name="Google Shape;72;p3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874321738" name="Google Shape;73;p3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61815944" name="Google Shape;74;p38"/>
          <p:cNvSpPr txBox="1"/>
          <p:nvPr>
            <p:ph type="body" idx="2"/>
          </p:nvPr>
        </p:nvSpPr>
        <p:spPr bwMode="auto">
          <a:xfrm>
            <a:off x="6191250" y="4000500"/>
            <a:ext cx="10953750" cy="2667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00192421" name="Google Shape;75;p38"/>
          <p:cNvSpPr txBox="1"/>
          <p:nvPr>
            <p:ph type="body" idx="3"/>
          </p:nvPr>
        </p:nvSpPr>
        <p:spPr bwMode="auto">
          <a:xfrm>
            <a:off x="6191250" y="7239000"/>
            <a:ext cx="1095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62592555" name="Google Shape;76;p38"/>
          <p:cNvSpPr txBox="1"/>
          <p:nvPr>
            <p:ph type="body" idx="4"/>
          </p:nvPr>
        </p:nvSpPr>
        <p:spPr bwMode="auto">
          <a:xfrm>
            <a:off x="6191250" y="8001000"/>
            <a:ext cx="1095375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عريضة" preserve="0" showMasterPhAnim="0" showMasterSp="1" userDrawn="1">
  <p:cSld name="نص وصورة عريضة">
    <p:bg>
      <p:bgPr shadeToTitle="0">
        <a:solidFill>
          <a:srgbClr val="12183F"/>
        </a:solidFill>
      </p:bgPr>
    </p:bg>
    <p:spTree>
      <p:nvGrpSpPr>
        <p:cNvPr id="1" name=""/>
        <p:cNvGrpSpPr/>
        <p:nvPr/>
      </p:nvGrpSpPr>
      <p:grpSpPr bwMode="auto">
        <a:xfrm>
          <a:off x="0" y="0"/>
          <a:ext cx="0" cy="0"/>
          <a:chOff x="0" y="0"/>
          <a:chExt cx="0" cy="0"/>
        </a:xfrm>
      </p:grpSpPr>
      <p:pic>
        <p:nvPicPr>
          <p:cNvPr id="934857821" name="Google Shape;78;p3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82126394" name="Google Shape;79;p3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937440984" name="Google Shape;80;p3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00461280" name="Google Shape;81;p3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41722422" name="Google Shape;82;p3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88766254" name="Google Shape;83;p3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10279893" name="Google Shape;84;p39"/>
          <p:cNvSpPr/>
          <p:nvPr>
            <p:ph type="pic" idx="2"/>
          </p:nvPr>
        </p:nvSpPr>
        <p:spPr bwMode="auto">
          <a:xfrm>
            <a:off x="1428750" y="4048125"/>
            <a:ext cx="8382000" cy="4714875"/>
          </a:xfrm>
          <a:prstGeom prst="rect">
            <a:avLst/>
          </a:prstGeom>
          <a:solidFill>
            <a:srgbClr val="161D48"/>
          </a:solidFill>
          <a:ln w="11425" cap="flat" cmpd="sng">
            <a:solidFill>
              <a:srgbClr val="4A5590"/>
            </a:solidFill>
            <a:prstDash val="solid"/>
            <a:round/>
            <a:headEnd type="none" w="sm" len="sm"/>
            <a:tailEnd type="none" w="sm" len="sm"/>
          </a:ln>
        </p:spPr>
      </p:sp>
      <p:sp>
        <p:nvSpPr>
          <p:cNvPr id="1722087875" name="Google Shape;85;p39"/>
          <p:cNvSpPr txBox="1"/>
          <p:nvPr>
            <p:ph type="body" idx="3"/>
          </p:nvPr>
        </p:nvSpPr>
        <p:spPr bwMode="auto">
          <a:xfrm>
            <a:off x="10763250" y="409575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51972715" name="Google Shape;86;p39"/>
          <p:cNvSpPr txBox="1"/>
          <p:nvPr>
            <p:ph type="body" idx="4"/>
          </p:nvPr>
        </p:nvSpPr>
        <p:spPr bwMode="auto">
          <a:xfrm>
            <a:off x="10763250" y="480060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4605197" name="Google Shape;87;p39"/>
          <p:cNvSpPr txBox="1"/>
          <p:nvPr>
            <p:ph type="body" idx="5"/>
          </p:nvPr>
        </p:nvSpPr>
        <p:spPr bwMode="auto">
          <a:xfrm>
            <a:off x="10763250" y="666750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54776327" name="Google Shape;88;p39"/>
          <p:cNvSpPr txBox="1"/>
          <p:nvPr>
            <p:ph type="body" idx="6"/>
          </p:nvPr>
        </p:nvSpPr>
        <p:spPr bwMode="auto">
          <a:xfrm>
            <a:off x="10763250" y="737235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مربعة" preserve="0" showMasterPhAnim="0" showMasterSp="1" userDrawn="1">
  <p:cSld name="نص وصورة مربعة">
    <p:bg>
      <p:bgPr shadeToTitle="0">
        <a:solidFill>
          <a:srgbClr val="12183F"/>
        </a:solidFill>
      </p:bgPr>
    </p:bg>
    <p:spTree>
      <p:nvGrpSpPr>
        <p:cNvPr id="1" name=""/>
        <p:cNvGrpSpPr/>
        <p:nvPr/>
      </p:nvGrpSpPr>
      <p:grpSpPr bwMode="auto">
        <a:xfrm>
          <a:off x="0" y="0"/>
          <a:ext cx="0" cy="0"/>
          <a:chOff x="0" y="0"/>
          <a:chExt cx="0" cy="0"/>
        </a:xfrm>
      </p:grpSpPr>
      <p:pic>
        <p:nvPicPr>
          <p:cNvPr id="1699256262" name="Google Shape;90;p4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84358647" name="Google Shape;91;p4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10737475" name="Google Shape;92;p4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01100060" name="Google Shape;93;p4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35027549" name="Google Shape;94;p4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809005764" name="Google Shape;95;p4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94455117" name="Google Shape;96;p40"/>
          <p:cNvSpPr/>
          <p:nvPr>
            <p:ph type="pic" idx="2"/>
          </p:nvPr>
        </p:nvSpPr>
        <p:spPr bwMode="auto">
          <a:xfrm>
            <a:off x="2190750" y="3476625"/>
            <a:ext cx="5715000" cy="5715000"/>
          </a:xfrm>
          <a:prstGeom prst="rect">
            <a:avLst/>
          </a:prstGeom>
          <a:solidFill>
            <a:srgbClr val="161D48"/>
          </a:solidFill>
          <a:ln w="11425" cap="flat" cmpd="sng">
            <a:solidFill>
              <a:srgbClr val="4A5590"/>
            </a:solidFill>
            <a:prstDash val="solid"/>
            <a:round/>
            <a:headEnd type="none" w="sm" len="sm"/>
            <a:tailEnd type="none" w="sm" len="sm"/>
          </a:ln>
        </p:spPr>
      </p:sp>
      <p:sp>
        <p:nvSpPr>
          <p:cNvPr id="2008362111" name="Google Shape;97;p40"/>
          <p:cNvSpPr txBox="1"/>
          <p:nvPr>
            <p:ph type="body" idx="3"/>
          </p:nvPr>
        </p:nvSpPr>
        <p:spPr bwMode="auto">
          <a:xfrm>
            <a:off x="10001250" y="3905250"/>
            <a:ext cx="7143750" cy="800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30479267" name="Google Shape;98;p40"/>
          <p:cNvSpPr txBox="1"/>
          <p:nvPr>
            <p:ph type="body" idx="4"/>
          </p:nvPr>
        </p:nvSpPr>
        <p:spPr bwMode="auto">
          <a:xfrm>
            <a:off x="10001250" y="5191125"/>
            <a:ext cx="7143750" cy="2428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11046143" name="Google Shape;99;p40"/>
          <p:cNvSpPr txBox="1"/>
          <p:nvPr>
            <p:ph type="body" idx="5"/>
          </p:nvPr>
        </p:nvSpPr>
        <p:spPr bwMode="auto">
          <a:xfrm>
            <a:off x="10001250" y="8048625"/>
            <a:ext cx="71437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ؤشرات" preserve="0" showMasterPhAnim="0" showMasterSp="1" userDrawn="1">
  <p:cSld name="مؤشرات">
    <p:bg>
      <p:bgPr shadeToTitle="0">
        <a:solidFill>
          <a:srgbClr val="12183F"/>
        </a:solidFill>
      </p:bgPr>
    </p:bg>
    <p:spTree>
      <p:nvGrpSpPr>
        <p:cNvPr id="1" name=""/>
        <p:cNvGrpSpPr/>
        <p:nvPr/>
      </p:nvGrpSpPr>
      <p:grpSpPr bwMode="auto">
        <a:xfrm>
          <a:off x="0" y="0"/>
          <a:ext cx="0" cy="0"/>
          <a:chOff x="0" y="0"/>
          <a:chExt cx="0" cy="0"/>
        </a:xfrm>
      </p:grpSpPr>
      <p:pic>
        <p:nvPicPr>
          <p:cNvPr id="1584882148" name="Google Shape;101;p41"/>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82197999" name="Google Shape;102;p41"/>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38651993" name="Google Shape;103;p41"/>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66656781" name="Google Shape;104;p41"/>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66064854" name="Google Shape;105;p41"/>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72151127" name="Google Shape;106;p4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07560449" name="Google Shape;107;p4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712700193" name="Google Shape;108;p41"/>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8647373" name="Google Shape;109;p41"/>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43812146" name="Google Shape;110;p41"/>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3370136" name="Google Shape;111;p41"/>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84853245" name="Google Shape;112;p41"/>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80712699" name="Google Shape;113;p41"/>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70957936" name="Google Shape;114;p41"/>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39368594" name="Google Shape;115;p41"/>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6386816" name="Google Shape;116;p41"/>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38389028" name="Google Shape;117;p41"/>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5785997" name="Google Shape;118;p41"/>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29223628" name="Google Shape;119;p41"/>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29945069" name="Google Shape;120;p41"/>
          <p:cNvSpPr txBox="1"/>
          <p:nvPr>
            <p:ph type="body" idx="18"/>
          </p:nvPr>
        </p:nvSpPr>
        <p:spPr bwMode="auto">
          <a:xfrm>
            <a:off x="1714500" y="8763000"/>
            <a:ext cx="15430500" cy="476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رسالة رئيسية" preserve="0" showMasterPhAnim="0" showMasterSp="1" userDrawn="1">
  <p:cSld name="رسالة رئيسية">
    <p:bg>
      <p:bgPr shadeToTitle="0">
        <a:solidFill>
          <a:srgbClr val="F2F4FF"/>
        </a:solidFill>
      </p:bgPr>
    </p:bg>
    <p:spTree>
      <p:nvGrpSpPr>
        <p:cNvPr id="1" name=""/>
        <p:cNvGrpSpPr/>
        <p:nvPr/>
      </p:nvGrpSpPr>
      <p:grpSpPr bwMode="auto">
        <a:xfrm>
          <a:off x="0" y="0"/>
          <a:ext cx="0" cy="0"/>
          <a:chOff x="0" y="0"/>
          <a:chExt cx="0" cy="0"/>
        </a:xfrm>
      </p:grpSpPr>
      <p:pic>
        <p:nvPicPr>
          <p:cNvPr id="220763670" name="Google Shape;122;p4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558145350" name="Google Shape;123;p42"/>
          <p:cNvPicPr/>
          <p:nvPr/>
        </p:nvPicPr>
        <p:blipFill rotWithShape="1">
          <a:blip r:embed="rId3">
            <a:alphaModFix/>
          </a:blip>
          <a:srcRect l="0" t="0" r="0" b="0"/>
          <a:stretch/>
        </p:blipFill>
        <p:spPr bwMode="auto">
          <a:xfrm>
            <a:off x="1069873" y="685800"/>
            <a:ext cx="3994355" cy="1238250"/>
          </a:xfrm>
          <a:prstGeom prst="rect">
            <a:avLst/>
          </a:prstGeom>
          <a:noFill/>
          <a:ln>
            <a:noFill/>
          </a:ln>
        </p:spPr>
      </p:pic>
      <p:sp>
        <p:nvSpPr>
          <p:cNvPr id="1563898917" name="Google Shape;124;p4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774486156" name="Google Shape;125;p4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72433958" name="Google Shape;126;p42"/>
          <p:cNvSpPr txBox="1"/>
          <p:nvPr>
            <p:ph type="title"/>
          </p:nvPr>
        </p:nvSpPr>
        <p:spPr bwMode="auto">
          <a:xfrm>
            <a:off x="2476500" y="3143250"/>
            <a:ext cx="13335000" cy="2952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99111436" name="Google Shape;127;p42"/>
          <p:cNvSpPr txBox="1"/>
          <p:nvPr>
            <p:ph type="body" idx="1"/>
          </p:nvPr>
        </p:nvSpPr>
        <p:spPr bwMode="auto">
          <a:xfrm>
            <a:off x="3333750" y="6905625"/>
            <a:ext cx="1162050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893383" name="Google Shape;128;p42"/>
          <p:cNvSpPr txBox="1"/>
          <p:nvPr>
            <p:ph type="body" idx="2"/>
          </p:nvPr>
        </p:nvSpPr>
        <p:spPr bwMode="auto">
          <a:xfrm>
            <a:off x="3333750" y="8239125"/>
            <a:ext cx="11620500" cy="523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داكن" preserve="0" showMasterPhAnim="0" showMasterSp="1" userDrawn="1">
  <p:cSld name="جدول داكن">
    <p:bg>
      <p:bgPr shadeToTitle="0">
        <a:solidFill>
          <a:srgbClr val="12183F"/>
        </a:solidFill>
      </p:bgPr>
    </p:bg>
    <p:spTree>
      <p:nvGrpSpPr>
        <p:cNvPr id="1" name=""/>
        <p:cNvGrpSpPr/>
        <p:nvPr/>
      </p:nvGrpSpPr>
      <p:grpSpPr bwMode="auto">
        <a:xfrm>
          <a:off x="0" y="0"/>
          <a:ext cx="0" cy="0"/>
          <a:chOff x="0" y="0"/>
          <a:chExt cx="0" cy="0"/>
        </a:xfrm>
      </p:grpSpPr>
      <p:pic>
        <p:nvPicPr>
          <p:cNvPr id="2048621811" name="Google Shape;130;p4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268805630" name="Google Shape;131;p4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927581985" name="Google Shape;132;p4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59360449" name="Google Shape;133;p4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29913925" name="Google Shape;134;p4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06583093" name="Google Shape;135;p4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67521443" name="Google Shape;136;p4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410367861" name="Google Shape;137;p43"/>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74913582" name="Google Shape;138;p43"/>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ط زمني" preserve="0" showMasterPhAnim="0" showMasterSp="1" userDrawn="1">
  <p:cSld name="خط زمني">
    <p:bg>
      <p:bgPr shadeToTitle="0">
        <a:solidFill>
          <a:srgbClr val="12183F"/>
        </a:solidFill>
      </p:bgPr>
    </p:bg>
    <p:spTree>
      <p:nvGrpSpPr>
        <p:cNvPr id="1" name=""/>
        <p:cNvGrpSpPr/>
        <p:nvPr/>
      </p:nvGrpSpPr>
      <p:grpSpPr bwMode="auto">
        <a:xfrm>
          <a:off x="0" y="0"/>
          <a:ext cx="0" cy="0"/>
          <a:chOff x="0" y="0"/>
          <a:chExt cx="0" cy="0"/>
        </a:xfrm>
      </p:grpSpPr>
      <p:pic>
        <p:nvPicPr>
          <p:cNvPr id="1770143724" name="Google Shape;140;p4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653985618" name="Google Shape;141;p4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786919421" name="Google Shape;142;p44"/>
          <p:cNvSpPr/>
          <p:nvPr/>
        </p:nvSpPr>
        <p:spPr bwMode="auto">
          <a:xfrm>
            <a:off x="14287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756123759" name="Google Shape;143;p44"/>
          <p:cNvSpPr/>
          <p:nvPr/>
        </p:nvSpPr>
        <p:spPr bwMode="auto">
          <a:xfrm>
            <a:off x="111442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255265808" name="Google Shape;144;p44"/>
          <p:cNvSpPr/>
          <p:nvPr/>
        </p:nvSpPr>
        <p:spPr bwMode="auto">
          <a:xfrm>
            <a:off x="80010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697808845" name="Google Shape;145;p44"/>
          <p:cNvSpPr/>
          <p:nvPr/>
        </p:nvSpPr>
        <p:spPr bwMode="auto">
          <a:xfrm>
            <a:off x="48577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814930164" name="Google Shape;146;p44"/>
          <p:cNvSpPr/>
          <p:nvPr/>
        </p:nvSpPr>
        <p:spPr bwMode="auto">
          <a:xfrm>
            <a:off x="1714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564162777" name="Google Shape;147;p4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25757343" name="Google Shape;148;p4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17869898" name="Google Shape;149;p4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04258312" name="Google Shape;150;p4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52994547" name="Google Shape;151;p4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23417660" name="Google Shape;152;p44"/>
          <p:cNvSpPr txBox="1"/>
          <p:nvPr>
            <p:ph type="body" idx="3"/>
          </p:nvPr>
        </p:nvSpPr>
        <p:spPr bwMode="auto">
          <a:xfrm>
            <a:off x="14287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39123472" name="Google Shape;153;p44"/>
          <p:cNvSpPr txBox="1"/>
          <p:nvPr>
            <p:ph type="body" idx="4"/>
          </p:nvPr>
        </p:nvSpPr>
        <p:spPr bwMode="auto">
          <a:xfrm>
            <a:off x="14287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49370514" name="Google Shape;154;p44"/>
          <p:cNvSpPr txBox="1"/>
          <p:nvPr>
            <p:ph type="body" idx="5"/>
          </p:nvPr>
        </p:nvSpPr>
        <p:spPr bwMode="auto">
          <a:xfrm>
            <a:off x="14287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91356071" name="Google Shape;155;p44"/>
          <p:cNvSpPr txBox="1"/>
          <p:nvPr>
            <p:ph type="body" idx="6"/>
          </p:nvPr>
        </p:nvSpPr>
        <p:spPr bwMode="auto">
          <a:xfrm>
            <a:off x="14287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22943676" name="Google Shape;156;p44"/>
          <p:cNvSpPr txBox="1"/>
          <p:nvPr>
            <p:ph type="body" idx="7"/>
          </p:nvPr>
        </p:nvSpPr>
        <p:spPr bwMode="auto">
          <a:xfrm>
            <a:off x="111442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61177901" name="Google Shape;157;p44"/>
          <p:cNvSpPr txBox="1"/>
          <p:nvPr>
            <p:ph type="body" idx="8"/>
          </p:nvPr>
        </p:nvSpPr>
        <p:spPr bwMode="auto">
          <a:xfrm>
            <a:off x="111442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57817141" name="Google Shape;158;p44"/>
          <p:cNvSpPr txBox="1"/>
          <p:nvPr>
            <p:ph type="body" idx="9"/>
          </p:nvPr>
        </p:nvSpPr>
        <p:spPr bwMode="auto">
          <a:xfrm>
            <a:off x="111442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3221119" name="Google Shape;159;p44"/>
          <p:cNvSpPr txBox="1"/>
          <p:nvPr>
            <p:ph type="body" idx="13"/>
          </p:nvPr>
        </p:nvSpPr>
        <p:spPr bwMode="auto">
          <a:xfrm>
            <a:off x="111442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65751151" name="Google Shape;160;p44"/>
          <p:cNvSpPr txBox="1"/>
          <p:nvPr>
            <p:ph type="body" idx="14"/>
          </p:nvPr>
        </p:nvSpPr>
        <p:spPr bwMode="auto">
          <a:xfrm>
            <a:off x="80010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93002089" name="Google Shape;161;p44"/>
          <p:cNvSpPr txBox="1"/>
          <p:nvPr>
            <p:ph type="body" idx="15"/>
          </p:nvPr>
        </p:nvSpPr>
        <p:spPr bwMode="auto">
          <a:xfrm>
            <a:off x="80010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83899195" name="Google Shape;162;p44"/>
          <p:cNvSpPr txBox="1"/>
          <p:nvPr>
            <p:ph type="body" idx="16"/>
          </p:nvPr>
        </p:nvSpPr>
        <p:spPr bwMode="auto">
          <a:xfrm>
            <a:off x="80010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76077377" name="Google Shape;163;p44"/>
          <p:cNvSpPr txBox="1"/>
          <p:nvPr>
            <p:ph type="body" idx="17"/>
          </p:nvPr>
        </p:nvSpPr>
        <p:spPr bwMode="auto">
          <a:xfrm>
            <a:off x="80010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69005421" name="Google Shape;164;p44"/>
          <p:cNvSpPr txBox="1"/>
          <p:nvPr>
            <p:ph type="body" idx="18"/>
          </p:nvPr>
        </p:nvSpPr>
        <p:spPr bwMode="auto">
          <a:xfrm>
            <a:off x="48577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85987240" name="Google Shape;165;p44"/>
          <p:cNvSpPr txBox="1"/>
          <p:nvPr>
            <p:ph type="body" idx="19"/>
          </p:nvPr>
        </p:nvSpPr>
        <p:spPr bwMode="auto">
          <a:xfrm>
            <a:off x="48577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37823963" name="Google Shape;166;p44"/>
          <p:cNvSpPr txBox="1"/>
          <p:nvPr>
            <p:ph type="body" idx="20"/>
          </p:nvPr>
        </p:nvSpPr>
        <p:spPr bwMode="auto">
          <a:xfrm>
            <a:off x="48577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483352" name="Google Shape;167;p44"/>
          <p:cNvSpPr txBox="1"/>
          <p:nvPr>
            <p:ph type="body" idx="21"/>
          </p:nvPr>
        </p:nvSpPr>
        <p:spPr bwMode="auto">
          <a:xfrm>
            <a:off x="48577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51955402" name="Google Shape;168;p44"/>
          <p:cNvSpPr txBox="1"/>
          <p:nvPr>
            <p:ph type="body" idx="22"/>
          </p:nvPr>
        </p:nvSpPr>
        <p:spPr bwMode="auto">
          <a:xfrm>
            <a:off x="1714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48947162" name="Google Shape;169;p44"/>
          <p:cNvSpPr txBox="1"/>
          <p:nvPr>
            <p:ph type="body" idx="23"/>
          </p:nvPr>
        </p:nvSpPr>
        <p:spPr bwMode="auto">
          <a:xfrm>
            <a:off x="1714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64279662" name="Google Shape;170;p44"/>
          <p:cNvSpPr txBox="1"/>
          <p:nvPr>
            <p:ph type="body" idx="24"/>
          </p:nvPr>
        </p:nvSpPr>
        <p:spPr bwMode="auto">
          <a:xfrm>
            <a:off x="1714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5176264" name="Google Shape;171;p44"/>
          <p:cNvSpPr txBox="1"/>
          <p:nvPr>
            <p:ph type="body" idx="25"/>
          </p:nvPr>
        </p:nvSpPr>
        <p:spPr bwMode="auto">
          <a:xfrm>
            <a:off x="1714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ريق العمل" preserve="0" showMasterPhAnim="0" showMasterSp="1" userDrawn="1">
  <p:cSld name="فريق العمل">
    <p:bg>
      <p:bgPr shadeToTitle="0">
        <a:solidFill>
          <a:srgbClr val="12183F"/>
        </a:solidFill>
      </p:bgPr>
    </p:bg>
    <p:spTree>
      <p:nvGrpSpPr>
        <p:cNvPr id="1" name=""/>
        <p:cNvGrpSpPr/>
        <p:nvPr/>
      </p:nvGrpSpPr>
      <p:grpSpPr bwMode="auto">
        <a:xfrm>
          <a:off x="0" y="0"/>
          <a:ext cx="0" cy="0"/>
          <a:chOff x="0" y="0"/>
          <a:chExt cx="0" cy="0"/>
        </a:xfrm>
      </p:grpSpPr>
      <p:pic>
        <p:nvPicPr>
          <p:cNvPr id="1133135665" name="Google Shape;173;p4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59441719" name="Google Shape;174;p4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204545881" name="Google Shape;175;p4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14642782" name="Google Shape;176;p4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23252739" name="Google Shape;177;p45"/>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5664572" name="Google Shape;178;p4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7481147" name="Google Shape;179;p4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124288444" name="Google Shape;180;p45"/>
          <p:cNvSpPr/>
          <p:nvPr>
            <p:ph type="pic" idx="3"/>
          </p:nvPr>
        </p:nvSpPr>
        <p:spPr bwMode="auto">
          <a:xfrm>
            <a:off x="14192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731789702" name="Google Shape;181;p45"/>
          <p:cNvSpPr txBox="1"/>
          <p:nvPr>
            <p:ph type="body" idx="4"/>
          </p:nvPr>
        </p:nvSpPr>
        <p:spPr bwMode="auto">
          <a:xfrm>
            <a:off x="13716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10772096" name="Google Shape;182;p45"/>
          <p:cNvSpPr txBox="1"/>
          <p:nvPr>
            <p:ph type="body" idx="5"/>
          </p:nvPr>
        </p:nvSpPr>
        <p:spPr bwMode="auto">
          <a:xfrm>
            <a:off x="13716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0950842" name="Google Shape;183;p45"/>
          <p:cNvSpPr/>
          <p:nvPr>
            <p:ph type="pic" idx="6"/>
          </p:nvPr>
        </p:nvSpPr>
        <p:spPr bwMode="auto">
          <a:xfrm>
            <a:off x="10191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439936918" name="Google Shape;184;p45"/>
          <p:cNvSpPr txBox="1"/>
          <p:nvPr>
            <p:ph type="body" idx="7"/>
          </p:nvPr>
        </p:nvSpPr>
        <p:spPr bwMode="auto">
          <a:xfrm>
            <a:off x="9715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61357324" name="Google Shape;185;p45"/>
          <p:cNvSpPr txBox="1"/>
          <p:nvPr>
            <p:ph type="body" idx="8"/>
          </p:nvPr>
        </p:nvSpPr>
        <p:spPr bwMode="auto">
          <a:xfrm>
            <a:off x="9715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45568243" name="Google Shape;186;p45"/>
          <p:cNvSpPr/>
          <p:nvPr>
            <p:ph type="pic" idx="9"/>
          </p:nvPr>
        </p:nvSpPr>
        <p:spPr bwMode="auto">
          <a:xfrm>
            <a:off x="6191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683779720" name="Google Shape;187;p45"/>
          <p:cNvSpPr txBox="1"/>
          <p:nvPr>
            <p:ph type="body" idx="13"/>
          </p:nvPr>
        </p:nvSpPr>
        <p:spPr bwMode="auto">
          <a:xfrm>
            <a:off x="5715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51962437" name="Google Shape;188;p45"/>
          <p:cNvSpPr txBox="1"/>
          <p:nvPr>
            <p:ph type="body" idx="14"/>
          </p:nvPr>
        </p:nvSpPr>
        <p:spPr bwMode="auto">
          <a:xfrm>
            <a:off x="5715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33244636" name="Google Shape;189;p45"/>
          <p:cNvSpPr/>
          <p:nvPr>
            <p:ph type="pic" idx="15"/>
          </p:nvPr>
        </p:nvSpPr>
        <p:spPr bwMode="auto">
          <a:xfrm>
            <a:off x="2190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825212106" name="Google Shape;190;p45"/>
          <p:cNvSpPr txBox="1"/>
          <p:nvPr>
            <p:ph type="body" idx="16"/>
          </p:nvPr>
        </p:nvSpPr>
        <p:spPr bwMode="auto">
          <a:xfrm>
            <a:off x="1714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05513982" name="Google Shape;191;p45"/>
          <p:cNvSpPr txBox="1"/>
          <p:nvPr>
            <p:ph type="body" idx="17"/>
          </p:nvPr>
        </p:nvSpPr>
        <p:spPr bwMode="auto">
          <a:xfrm>
            <a:off x="1714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فاتحة" preserve="0" showMasterPhAnim="0" showMasterSp="1" userDrawn="1">
  <p:cSld name="أربع نقاط فاتحة">
    <p:bg>
      <p:bgPr shadeToTitle="0">
        <a:solidFill>
          <a:srgbClr val="F2F4FF"/>
        </a:solidFill>
      </p:bgPr>
    </p:bg>
    <p:spTree>
      <p:nvGrpSpPr>
        <p:cNvPr id="1" name=""/>
        <p:cNvGrpSpPr/>
        <p:nvPr/>
      </p:nvGrpSpPr>
      <p:grpSpPr bwMode="auto">
        <a:xfrm>
          <a:off x="0" y="0"/>
          <a:ext cx="0" cy="0"/>
          <a:chOff x="0" y="0"/>
          <a:chExt cx="0" cy="0"/>
        </a:xfrm>
      </p:grpSpPr>
      <p:pic>
        <p:nvPicPr>
          <p:cNvPr id="1670179441" name="Google Shape;193;p4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3705320" name="Google Shape;194;p46"/>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1891301956" name="Google Shape;195;p46"/>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0704745" name="Google Shape;196;p46"/>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21248049" name="Google Shape;197;p46"/>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81921583" name="Google Shape;198;p4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582107142" name="Google Shape;199;p4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60250878" name="Google Shape;200;p46"/>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425730" name="Google Shape;201;p46"/>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9385186" name="Google Shape;202;p46"/>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9695249" name="Google Shape;203;p46"/>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1824578" name="Google Shape;204;p46"/>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54279020" name="Google Shape;205;p46"/>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52835468" name="Google Shape;206;p46"/>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34811321" name="Google Shape;207;p46"/>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فاتح" preserve="0" showMasterPhAnim="0" showMasterSp="1" userDrawn="1">
  <p:cSld name="جدول فاتح">
    <p:bg>
      <p:bgPr shadeToTitle="0">
        <a:solidFill>
          <a:srgbClr val="F2F4FF"/>
        </a:solidFill>
      </p:bgPr>
    </p:bg>
    <p:spTree>
      <p:nvGrpSpPr>
        <p:cNvPr id="1" name=""/>
        <p:cNvGrpSpPr/>
        <p:nvPr/>
      </p:nvGrpSpPr>
      <p:grpSpPr bwMode="auto">
        <a:xfrm>
          <a:off x="0" y="0"/>
          <a:ext cx="0" cy="0"/>
          <a:chOff x="0" y="0"/>
          <a:chExt cx="0" cy="0"/>
        </a:xfrm>
      </p:grpSpPr>
      <p:pic>
        <p:nvPicPr>
          <p:cNvPr id="1454569817" name="Google Shape;209;p4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688321266" name="Google Shape;210;p47"/>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976785369" name="Google Shape;211;p4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87876258" name="Google Shape;212;p4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62706399" name="Google Shape;213;p4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83937308" name="Google Shape;214;p4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279588731" name="Google Shape;215;p4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77240405" name="Google Shape;216;p47"/>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63701000" name="Google Shape;217;p47"/>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بالأعمدة" preserve="0" showMasterPhAnim="0" showMasterSp="1" userDrawn="1">
  <p:cSld name="مقارنة بالأعمدة">
    <p:bg>
      <p:bgPr shadeToTitle="0">
        <a:solidFill>
          <a:srgbClr val="12183F"/>
        </a:solidFill>
      </p:bgPr>
    </p:bg>
    <p:spTree>
      <p:nvGrpSpPr>
        <p:cNvPr id="1" name=""/>
        <p:cNvGrpSpPr/>
        <p:nvPr/>
      </p:nvGrpSpPr>
      <p:grpSpPr bwMode="auto">
        <a:xfrm>
          <a:off x="0" y="0"/>
          <a:ext cx="0" cy="0"/>
          <a:chOff x="0" y="0"/>
          <a:chExt cx="0" cy="0"/>
        </a:xfrm>
      </p:grpSpPr>
      <p:pic>
        <p:nvPicPr>
          <p:cNvPr id="81683886" name="Google Shape;219;p4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55827726" name="Google Shape;220;p4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74911489" name="Google Shape;221;p4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84562188" name="Google Shape;222;p4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88177868" name="Google Shape;223;p48"/>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71946275" name="Google Shape;224;p4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77218540" name="Google Shape;225;p4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705765897" name="Google Shape;226;p48"/>
          <p:cNvSpPr txBox="1"/>
          <p:nvPr>
            <p:ph type="body" idx="3"/>
          </p:nvPr>
        </p:nvSpPr>
        <p:spPr bwMode="auto">
          <a:xfrm>
            <a:off x="2095500" y="8905875"/>
            <a:ext cx="1419225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7179003" name="Google Shape;227;p48"/>
          <p:cNvSpPr/>
          <p:nvPr>
            <p:ph type="chart" idx="4"/>
          </p:nvPr>
        </p:nvSpPr>
        <p:spPr bwMode="auto">
          <a:xfrm>
            <a:off x="2095500" y="3905250"/>
            <a:ext cx="14192250" cy="4857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توزيع نسبي" preserve="0" showMasterPhAnim="0" showMasterSp="1" userDrawn="1">
  <p:cSld name="توزيع نسبي">
    <p:bg>
      <p:bgPr shadeToTitle="0">
        <a:solidFill>
          <a:srgbClr val="12183F"/>
        </a:solidFill>
      </p:bgPr>
    </p:bg>
    <p:spTree>
      <p:nvGrpSpPr>
        <p:cNvPr id="1" name=""/>
        <p:cNvGrpSpPr/>
        <p:nvPr/>
      </p:nvGrpSpPr>
      <p:grpSpPr bwMode="auto">
        <a:xfrm>
          <a:off x="0" y="0"/>
          <a:ext cx="0" cy="0"/>
          <a:chOff x="0" y="0"/>
          <a:chExt cx="0" cy="0"/>
        </a:xfrm>
      </p:grpSpPr>
      <p:pic>
        <p:nvPicPr>
          <p:cNvPr id="969624015" name="Google Shape;229;p4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502814080" name="Google Shape;230;p4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24509676" name="Google Shape;231;p4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78261850" name="Google Shape;232;p4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57069536" name="Google Shape;233;p49"/>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1312881" name="Google Shape;234;p4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822446963" name="Google Shape;235;p4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64070527" name="Google Shape;236;p49"/>
          <p:cNvSpPr txBox="1"/>
          <p:nvPr>
            <p:ph type="body" idx="3"/>
          </p:nvPr>
        </p:nvSpPr>
        <p:spPr bwMode="auto">
          <a:xfrm>
            <a:off x="1714500" y="890587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7477471" name="Google Shape;237;p49"/>
          <p:cNvSpPr/>
          <p:nvPr>
            <p:ph type="chart" idx="4"/>
          </p:nvPr>
        </p:nvSpPr>
        <p:spPr bwMode="auto">
          <a:xfrm>
            <a:off x="2095500" y="3619500"/>
            <a:ext cx="14097000" cy="5381625"/>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آلية العمل" preserve="0" showMasterPhAnim="0" showMasterSp="1" userDrawn="1">
  <p:cSld name="آلية العمل">
    <p:bg>
      <p:bgPr shadeToTitle="0">
        <a:solidFill>
          <a:srgbClr val="12183F"/>
        </a:solidFill>
      </p:bgPr>
    </p:bg>
    <p:spTree>
      <p:nvGrpSpPr>
        <p:cNvPr id="1" name=""/>
        <p:cNvGrpSpPr/>
        <p:nvPr/>
      </p:nvGrpSpPr>
      <p:grpSpPr bwMode="auto">
        <a:xfrm>
          <a:off x="0" y="0"/>
          <a:ext cx="0" cy="0"/>
          <a:chOff x="0" y="0"/>
          <a:chExt cx="0" cy="0"/>
        </a:xfrm>
      </p:grpSpPr>
      <p:pic>
        <p:nvPicPr>
          <p:cNvPr id="807445574" name="Google Shape;239;p5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26456238" name="Google Shape;240;p5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61984580" name="Google Shape;241;p5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4102977" name="Google Shape;242;p5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8699452" name="Google Shape;243;p50"/>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45411243" name="Google Shape;244;p5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763983776" name="Google Shape;245;p5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6880133" name="Google Shape;246;p50"/>
          <p:cNvSpPr txBox="1"/>
          <p:nvPr>
            <p:ph type="body" idx="3"/>
          </p:nvPr>
        </p:nvSpPr>
        <p:spPr bwMode="auto">
          <a:xfrm>
            <a:off x="13716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12679609" name="Google Shape;247;p50"/>
          <p:cNvSpPr txBox="1"/>
          <p:nvPr>
            <p:ph type="body" idx="4"/>
          </p:nvPr>
        </p:nvSpPr>
        <p:spPr bwMode="auto">
          <a:xfrm>
            <a:off x="9715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26590516" name="Google Shape;248;p50"/>
          <p:cNvSpPr txBox="1"/>
          <p:nvPr>
            <p:ph type="body" idx="5"/>
          </p:nvPr>
        </p:nvSpPr>
        <p:spPr bwMode="auto">
          <a:xfrm>
            <a:off x="5715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0836019" name="Google Shape;249;p50"/>
          <p:cNvSpPr txBox="1"/>
          <p:nvPr>
            <p:ph type="body" idx="6"/>
          </p:nvPr>
        </p:nvSpPr>
        <p:spPr bwMode="auto">
          <a:xfrm>
            <a:off x="1714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صورة كبيرة" preserve="0" showMasterPhAnim="0" showMasterSp="1" userDrawn="1">
  <p:cSld name="صورة كبيرة">
    <p:bg>
      <p:bgPr shadeToTitle="0">
        <a:solidFill>
          <a:srgbClr val="12183F"/>
        </a:solidFill>
      </p:bgPr>
    </p:bg>
    <p:spTree>
      <p:nvGrpSpPr>
        <p:cNvPr id="1" name=""/>
        <p:cNvGrpSpPr/>
        <p:nvPr/>
      </p:nvGrpSpPr>
      <p:grpSpPr bwMode="auto">
        <a:xfrm>
          <a:off x="0" y="0"/>
          <a:ext cx="0" cy="0"/>
          <a:chOff x="0" y="0"/>
          <a:chExt cx="0" cy="0"/>
        </a:xfrm>
      </p:grpSpPr>
      <p:pic>
        <p:nvPicPr>
          <p:cNvPr id="110522306" name="Google Shape;251;p51"/>
          <p:cNvPicPr/>
          <p:nvPr/>
        </p:nvPicPr>
        <p:blipFill rotWithShape="1">
          <a:blip r:embed="rId2">
            <a:alphaModFix/>
          </a:blip>
          <a:srcRect l="0" t="0" r="0" b="0"/>
          <a:stretch/>
        </p:blipFill>
        <p:spPr bwMode="auto">
          <a:xfrm>
            <a:off x="0" y="0"/>
            <a:ext cx="18288000" cy="10287000"/>
          </a:xfrm>
          <a:prstGeom prst="rect">
            <a:avLst/>
          </a:prstGeom>
          <a:noFill/>
          <a:ln>
            <a:noFill/>
          </a:ln>
        </p:spPr>
      </p:pic>
      <p:sp>
        <p:nvSpPr>
          <p:cNvPr id="473297551" name="Google Shape;252;p5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401215851" name="Google Shape;253;p5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344252983" name="Google Shape;254;p51"/>
          <p:cNvSpPr/>
          <p:nvPr>
            <p:ph type="pic" idx="2"/>
          </p:nvPr>
        </p:nvSpPr>
        <p:spPr bwMode="auto">
          <a:xfrm>
            <a:off x="1047750" y="666750"/>
            <a:ext cx="16192500" cy="6953250"/>
          </a:xfrm>
          <a:prstGeom prst="rect">
            <a:avLst/>
          </a:prstGeom>
          <a:solidFill>
            <a:srgbClr val="161D48"/>
          </a:solidFill>
          <a:ln w="11425" cap="flat" cmpd="sng">
            <a:solidFill>
              <a:srgbClr val="4A5590"/>
            </a:solidFill>
            <a:prstDash val="solid"/>
            <a:round/>
            <a:headEnd type="none" w="sm" len="sm"/>
            <a:tailEnd type="none" w="sm" len="sm"/>
          </a:ln>
        </p:spPr>
      </p:sp>
      <p:sp>
        <p:nvSpPr>
          <p:cNvPr id="419016231" name="Google Shape;255;p51"/>
          <p:cNvSpPr txBox="1"/>
          <p:nvPr>
            <p:ph type="title"/>
          </p:nvPr>
        </p:nvSpPr>
        <p:spPr bwMode="auto">
          <a:xfrm>
            <a:off x="2190750" y="7962900"/>
            <a:ext cx="14763750" cy="8382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2675682" name="Google Shape;256;p51"/>
          <p:cNvSpPr txBox="1"/>
          <p:nvPr>
            <p:ph type="body" idx="1"/>
          </p:nvPr>
        </p:nvSpPr>
        <p:spPr bwMode="auto">
          <a:xfrm>
            <a:off x="2190750" y="8896350"/>
            <a:ext cx="14763750" cy="4286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عرض الصور" preserve="0" showMasterPhAnim="0" showMasterSp="1" userDrawn="1">
  <p:cSld name="معرض الصور">
    <p:bg>
      <p:bgPr shadeToTitle="0">
        <a:solidFill>
          <a:srgbClr val="12183F"/>
        </a:solidFill>
      </p:bgPr>
    </p:bg>
    <p:spTree>
      <p:nvGrpSpPr>
        <p:cNvPr id="1" name=""/>
        <p:cNvGrpSpPr/>
        <p:nvPr/>
      </p:nvGrpSpPr>
      <p:grpSpPr bwMode="auto">
        <a:xfrm>
          <a:off x="0" y="0"/>
          <a:ext cx="0" cy="0"/>
          <a:chOff x="0" y="0"/>
          <a:chExt cx="0" cy="0"/>
        </a:xfrm>
      </p:grpSpPr>
      <p:pic>
        <p:nvPicPr>
          <p:cNvPr id="1379334893" name="Google Shape;258;p5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54788581" name="Google Shape;259;p52"/>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995819135" name="Google Shape;260;p52"/>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02245197" name="Google Shape;261;p52"/>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14175830" name="Google Shape;262;p5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81925667" name="Google Shape;263;p5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55156940" name="Google Shape;264;p52"/>
          <p:cNvSpPr/>
          <p:nvPr>
            <p:ph type="pic" idx="2"/>
          </p:nvPr>
        </p:nvSpPr>
        <p:spPr bwMode="auto">
          <a:xfrm>
            <a:off x="12382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780378669" name="Google Shape;265;p52"/>
          <p:cNvSpPr txBox="1"/>
          <p:nvPr>
            <p:ph type="body" idx="3"/>
          </p:nvPr>
        </p:nvSpPr>
        <p:spPr bwMode="auto">
          <a:xfrm>
            <a:off x="12382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13065323" name="Google Shape;266;p52"/>
          <p:cNvSpPr/>
          <p:nvPr>
            <p:ph type="pic" idx="4"/>
          </p:nvPr>
        </p:nvSpPr>
        <p:spPr bwMode="auto">
          <a:xfrm>
            <a:off x="7048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951484703" name="Google Shape;267;p52"/>
          <p:cNvSpPr txBox="1"/>
          <p:nvPr>
            <p:ph type="body" idx="5"/>
          </p:nvPr>
        </p:nvSpPr>
        <p:spPr bwMode="auto">
          <a:xfrm>
            <a:off x="7048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9030356" name="Google Shape;268;p52"/>
          <p:cNvSpPr/>
          <p:nvPr>
            <p:ph type="pic" idx="6"/>
          </p:nvPr>
        </p:nvSpPr>
        <p:spPr bwMode="auto">
          <a:xfrm>
            <a:off x="1714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793726677" name="Google Shape;269;p52"/>
          <p:cNvSpPr txBox="1"/>
          <p:nvPr>
            <p:ph type="body" idx="7"/>
          </p:nvPr>
        </p:nvSpPr>
        <p:spPr bwMode="auto">
          <a:xfrm>
            <a:off x="1714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يقونات الهوية" preserve="0" showMasterPhAnim="0" showMasterSp="1" userDrawn="1">
  <p:cSld name="أيقونات الهوية">
    <p:bg>
      <p:bgPr shadeToTitle="0">
        <a:solidFill>
          <a:srgbClr val="12183F"/>
        </a:solidFill>
      </p:bgPr>
    </p:bg>
    <p:spTree>
      <p:nvGrpSpPr>
        <p:cNvPr id="1" name=""/>
        <p:cNvGrpSpPr/>
        <p:nvPr/>
      </p:nvGrpSpPr>
      <p:grpSpPr bwMode="auto">
        <a:xfrm>
          <a:off x="0" y="0"/>
          <a:ext cx="0" cy="0"/>
          <a:chOff x="0" y="0"/>
          <a:chExt cx="0" cy="0"/>
        </a:xfrm>
      </p:grpSpPr>
      <p:pic>
        <p:nvPicPr>
          <p:cNvPr id="936963611" name="Google Shape;271;p5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73055476" name="Google Shape;272;p5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23060129" name="Google Shape;273;p5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8008934" name="Google Shape;274;p5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2607673" name="Google Shape;275;p5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8671250" name="Google Shape;276;p5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38276014" name="Google Shape;277;p5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918136148" name="Google Shape;278;p53"/>
          <p:cNvSpPr txBox="1"/>
          <p:nvPr>
            <p:ph type="body" idx="3"/>
          </p:nvPr>
        </p:nvSpPr>
        <p:spPr bwMode="auto">
          <a:xfrm>
            <a:off x="13716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55826593" name="Google Shape;279;p53"/>
          <p:cNvSpPr txBox="1"/>
          <p:nvPr>
            <p:ph type="body" idx="4"/>
          </p:nvPr>
        </p:nvSpPr>
        <p:spPr bwMode="auto">
          <a:xfrm>
            <a:off x="13716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46538448" name="Google Shape;280;p53"/>
          <p:cNvSpPr txBox="1"/>
          <p:nvPr>
            <p:ph type="body" idx="5"/>
          </p:nvPr>
        </p:nvSpPr>
        <p:spPr bwMode="auto">
          <a:xfrm>
            <a:off x="9715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92513340" name="Google Shape;281;p53"/>
          <p:cNvSpPr txBox="1"/>
          <p:nvPr>
            <p:ph type="body" idx="6"/>
          </p:nvPr>
        </p:nvSpPr>
        <p:spPr bwMode="auto">
          <a:xfrm>
            <a:off x="9715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66498410" name="Google Shape;282;p53"/>
          <p:cNvSpPr txBox="1"/>
          <p:nvPr>
            <p:ph type="body" idx="7"/>
          </p:nvPr>
        </p:nvSpPr>
        <p:spPr bwMode="auto">
          <a:xfrm>
            <a:off x="5715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77031271" name="Google Shape;283;p53"/>
          <p:cNvSpPr txBox="1"/>
          <p:nvPr>
            <p:ph type="body" idx="8"/>
          </p:nvPr>
        </p:nvSpPr>
        <p:spPr bwMode="auto">
          <a:xfrm>
            <a:off x="5715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95200968" name="Google Shape;284;p53"/>
          <p:cNvSpPr txBox="1"/>
          <p:nvPr>
            <p:ph type="body" idx="9"/>
          </p:nvPr>
        </p:nvSpPr>
        <p:spPr bwMode="auto">
          <a:xfrm>
            <a:off x="1714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4603586" name="Google Shape;285;p53"/>
          <p:cNvSpPr txBox="1"/>
          <p:nvPr>
            <p:ph type="body" idx="13"/>
          </p:nvPr>
        </p:nvSpPr>
        <p:spPr bwMode="auto">
          <a:xfrm>
            <a:off x="1714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خيارين" preserve="0" showMasterPhAnim="0" showMasterSp="1" userDrawn="1">
  <p:cSld name="مقارنة خيارين">
    <p:bg>
      <p:bgPr shadeToTitle="0">
        <a:solidFill>
          <a:srgbClr val="12183F"/>
        </a:solidFill>
      </p:bgPr>
    </p:bg>
    <p:spTree>
      <p:nvGrpSpPr>
        <p:cNvPr id="1" name=""/>
        <p:cNvGrpSpPr/>
        <p:nvPr/>
      </p:nvGrpSpPr>
      <p:grpSpPr bwMode="auto">
        <a:xfrm>
          <a:off x="0" y="0"/>
          <a:ext cx="0" cy="0"/>
          <a:chOff x="0" y="0"/>
          <a:chExt cx="0" cy="0"/>
        </a:xfrm>
      </p:grpSpPr>
      <p:pic>
        <p:nvPicPr>
          <p:cNvPr id="327935970" name="Google Shape;287;p5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805723973" name="Google Shape;288;p5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458581965" name="Google Shape;289;p5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0899672" name="Google Shape;290;p5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11707635" name="Google Shape;291;p5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21268244" name="Google Shape;292;p5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953898891" name="Google Shape;293;p5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774416631" name="Google Shape;294;p54"/>
          <p:cNvSpPr txBox="1"/>
          <p:nvPr>
            <p:ph type="body" idx="3"/>
          </p:nvPr>
        </p:nvSpPr>
        <p:spPr bwMode="auto">
          <a:xfrm>
            <a:off x="1000125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55400946" name="Google Shape;295;p54"/>
          <p:cNvSpPr txBox="1"/>
          <p:nvPr>
            <p:ph type="body" idx="4"/>
          </p:nvPr>
        </p:nvSpPr>
        <p:spPr bwMode="auto">
          <a:xfrm>
            <a:off x="1000125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16502916" name="Google Shape;296;p54"/>
          <p:cNvSpPr txBox="1"/>
          <p:nvPr>
            <p:ph type="body" idx="5"/>
          </p:nvPr>
        </p:nvSpPr>
        <p:spPr bwMode="auto">
          <a:xfrm>
            <a:off x="171450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63894197" name="Google Shape;297;p54"/>
          <p:cNvSpPr txBox="1"/>
          <p:nvPr>
            <p:ph type="body" idx="6"/>
          </p:nvPr>
        </p:nvSpPr>
        <p:spPr bwMode="auto">
          <a:xfrm>
            <a:off x="171450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31121048" name="Google Shape;298;p54"/>
          <p:cNvSpPr txBox="1"/>
          <p:nvPr>
            <p:ph type="body" idx="7"/>
          </p:nvPr>
        </p:nvSpPr>
        <p:spPr bwMode="auto">
          <a:xfrm>
            <a:off x="1000125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3217656" name="Google Shape;299;p54"/>
          <p:cNvSpPr txBox="1"/>
          <p:nvPr>
            <p:ph type="body" idx="8"/>
          </p:nvPr>
        </p:nvSpPr>
        <p:spPr bwMode="auto">
          <a:xfrm>
            <a:off x="171450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داكنة" preserve="0" showMasterPhAnim="0" showMasterSp="1" userDrawn="1">
  <p:cSld name="فارغة داكنة">
    <p:bg>
      <p:bgPr shadeToTitle="0">
        <a:solidFill>
          <a:srgbClr val="12183F"/>
        </a:solidFill>
      </p:bgPr>
    </p:bg>
    <p:spTree>
      <p:nvGrpSpPr>
        <p:cNvPr id="1" name=""/>
        <p:cNvGrpSpPr/>
        <p:nvPr/>
      </p:nvGrpSpPr>
      <p:grpSpPr bwMode="auto">
        <a:xfrm>
          <a:off x="0" y="0"/>
          <a:ext cx="0" cy="0"/>
          <a:chOff x="0" y="0"/>
          <a:chExt cx="0" cy="0"/>
        </a:xfrm>
      </p:grpSpPr>
      <p:pic>
        <p:nvPicPr>
          <p:cNvPr id="1203182443" name="Google Shape;301;p5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77077023" name="Google Shape;302;p55"/>
          <p:cNvPicPr/>
          <p:nvPr/>
        </p:nvPicPr>
        <p:blipFill rotWithShape="1">
          <a:blip r:embed="rId3">
            <a:alphaModFix/>
          </a:blip>
          <a:srcRect l="0" t="0" r="0" b="0"/>
          <a:stretch/>
        </p:blipFill>
        <p:spPr bwMode="auto">
          <a:xfrm>
            <a:off x="1066800" y="722542"/>
            <a:ext cx="3429000" cy="879016"/>
          </a:xfrm>
          <a:prstGeom prst="rect">
            <a:avLst/>
          </a:prstGeom>
          <a:noFill/>
          <a:ln>
            <a:noFill/>
          </a:ln>
        </p:spPr>
      </p:pic>
      <p:sp>
        <p:nvSpPr>
          <p:cNvPr id="1339526755" name="Google Shape;303;p5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69497974" name="Google Shape;304;p5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فاتحة" preserve="0" showMasterPhAnim="0" showMasterSp="1" userDrawn="1">
  <p:cSld name="فارغة فاتحة">
    <p:bg>
      <p:bgPr shadeToTitle="0">
        <a:solidFill>
          <a:srgbClr val="F2F4FF"/>
        </a:solidFill>
      </p:bgPr>
    </p:bg>
    <p:spTree>
      <p:nvGrpSpPr>
        <p:cNvPr id="1" name=""/>
        <p:cNvGrpSpPr/>
        <p:nvPr/>
      </p:nvGrpSpPr>
      <p:grpSpPr bwMode="auto">
        <a:xfrm>
          <a:off x="0" y="0"/>
          <a:ext cx="0" cy="0"/>
          <a:chOff x="0" y="0"/>
          <a:chExt cx="0" cy="0"/>
        </a:xfrm>
      </p:grpSpPr>
      <p:pic>
        <p:nvPicPr>
          <p:cNvPr id="1453796308" name="Google Shape;306;p5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019041056" name="Google Shape;307;p56"/>
          <p:cNvPicPr/>
          <p:nvPr/>
        </p:nvPicPr>
        <p:blipFill rotWithShape="1">
          <a:blip r:embed="rId3">
            <a:alphaModFix/>
          </a:blip>
          <a:srcRect l="0" t="0" r="0" b="0"/>
          <a:stretch/>
        </p:blipFill>
        <p:spPr bwMode="auto">
          <a:xfrm>
            <a:off x="1245010" y="685800"/>
            <a:ext cx="3072581" cy="952500"/>
          </a:xfrm>
          <a:prstGeom prst="rect">
            <a:avLst/>
          </a:prstGeom>
          <a:noFill/>
          <a:ln>
            <a:noFill/>
          </a:ln>
        </p:spPr>
      </p:pic>
      <p:sp>
        <p:nvSpPr>
          <p:cNvPr id="105461065" name="Google Shape;308;p5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309735149" name="Google Shape;309;p5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تام العرض" preserve="0" showMasterPhAnim="0" showMasterSp="1" userDrawn="1">
  <p:cSld name="ختام العرض">
    <p:bg>
      <p:bgPr shadeToTitle="0">
        <a:solidFill>
          <a:srgbClr val="12183F"/>
        </a:solidFill>
      </p:bgPr>
    </p:bg>
    <p:spTree>
      <p:nvGrpSpPr>
        <p:cNvPr id="1" name=""/>
        <p:cNvGrpSpPr/>
        <p:nvPr/>
      </p:nvGrpSpPr>
      <p:grpSpPr bwMode="auto">
        <a:xfrm>
          <a:off x="0" y="0"/>
          <a:ext cx="0" cy="0"/>
          <a:chOff x="0" y="0"/>
          <a:chExt cx="0" cy="0"/>
        </a:xfrm>
      </p:grpSpPr>
      <p:pic>
        <p:nvPicPr>
          <p:cNvPr id="30177597" name="Google Shape;311;p5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607464999" name="Google Shape;312;p57"/>
          <p:cNvPicPr/>
          <p:nvPr/>
        </p:nvPicPr>
        <p:blipFill rotWithShape="1">
          <a:blip r:embed="rId3">
            <a:alphaModFix/>
          </a:blip>
          <a:srcRect l="0" t="0" r="0" b="0"/>
          <a:stretch/>
        </p:blipFill>
        <p:spPr bwMode="auto">
          <a:xfrm>
            <a:off x="5810250" y="1336151"/>
            <a:ext cx="6667500" cy="1709198"/>
          </a:xfrm>
          <a:prstGeom prst="rect">
            <a:avLst/>
          </a:prstGeom>
          <a:noFill/>
          <a:ln>
            <a:noFill/>
          </a:ln>
        </p:spPr>
      </p:pic>
      <p:pic>
        <p:nvPicPr>
          <p:cNvPr id="1088934165" name="Google Shape;313;p57"/>
          <p:cNvPicPr/>
          <p:nvPr/>
        </p:nvPicPr>
        <p:blipFill rotWithShape="1">
          <a:blip r:embed="rId4">
            <a:alphaModFix/>
          </a:blip>
          <a:srcRect l="0" t="0" r="0" b="0"/>
          <a:stretch/>
        </p:blipFill>
        <p:spPr bwMode="auto">
          <a:xfrm>
            <a:off x="10669484" y="8524875"/>
            <a:ext cx="3045029" cy="1562100"/>
          </a:xfrm>
          <a:prstGeom prst="rect">
            <a:avLst/>
          </a:prstGeom>
          <a:noFill/>
          <a:ln>
            <a:noFill/>
          </a:ln>
        </p:spPr>
      </p:pic>
      <p:pic>
        <p:nvPicPr>
          <p:cNvPr id="1942458417" name="Google Shape;314;p57"/>
          <p:cNvPicPr/>
          <p:nvPr/>
        </p:nvPicPr>
        <p:blipFill rotWithShape="1">
          <a:blip r:embed="rId5">
            <a:alphaModFix/>
          </a:blip>
          <a:srcRect l="4300" t="16000" r="69700" b="16000"/>
          <a:stretch/>
        </p:blipFill>
        <p:spPr bwMode="auto">
          <a:xfrm>
            <a:off x="4857750" y="8629650"/>
            <a:ext cx="3810000" cy="1476375"/>
          </a:xfrm>
          <a:prstGeom prst="rect">
            <a:avLst/>
          </a:prstGeom>
          <a:noFill/>
          <a:ln>
            <a:noFill/>
          </a:ln>
        </p:spPr>
      </p:pic>
      <p:sp>
        <p:nvSpPr>
          <p:cNvPr id="425334873" name="Google Shape;315;p57"/>
          <p:cNvSpPr txBox="1"/>
          <p:nvPr>
            <p:ph type="title"/>
          </p:nvPr>
        </p:nvSpPr>
        <p:spPr bwMode="auto">
          <a:xfrm>
            <a:off x="3810000" y="4048125"/>
            <a:ext cx="10668000" cy="1428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89437671" name="Google Shape;316;p57"/>
          <p:cNvSpPr txBox="1"/>
          <p:nvPr>
            <p:ph type="body" idx="1"/>
          </p:nvPr>
        </p:nvSpPr>
        <p:spPr bwMode="auto">
          <a:xfrm>
            <a:off x="3810000" y="5905500"/>
            <a:ext cx="1066800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4567472" name="Google Shape;317;p57"/>
          <p:cNvSpPr txBox="1"/>
          <p:nvPr>
            <p:ph type="body" idx="2"/>
          </p:nvPr>
        </p:nvSpPr>
        <p:spPr bwMode="auto">
          <a:xfrm>
            <a:off x="3810000" y="7000875"/>
            <a:ext cx="10668000" cy="666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17.xml"/><Relationship Id="rId6" Type="http://schemas.openxmlformats.org/officeDocument/2006/relationships/image" Target="../media/image2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18.xml"/><Relationship Id="rId6" Type="http://schemas.openxmlformats.org/officeDocument/2006/relationships/image" Target="../media/image2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19.xml"/><Relationship Id="rId6"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6.jpg"/><Relationship Id="rId6"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637259990" name="Google Shape;484;p8"/>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240228838" name="Google Shape;485;p8" title="الصورة الرئيسية.png"/>
          <p:cNvPicPr/>
          <p:nvPr/>
        </p:nvPicPr>
        <p:blipFill rotWithShape="1">
          <a:blip r:embed="rId4">
            <a:alphaModFix/>
          </a:blip>
          <a:stretch/>
        </p:blipFill>
        <p:spPr bwMode="auto">
          <a:xfrm>
            <a:off x="195975" y="1103475"/>
            <a:ext cx="9312476" cy="8603123"/>
          </a:xfrm>
          <a:prstGeom prst="rect">
            <a:avLst/>
          </a:prstGeom>
          <a:noFill/>
          <a:ln>
            <a:noFill/>
          </a:ln>
        </p:spPr>
      </p:pic>
      <p:sp>
        <p:nvSpPr>
          <p:cNvPr id="645756628" name="Google Shape;486;p8"/>
          <p:cNvSpPr txBox="1"/>
          <p:nvPr>
            <p:ph type="title"/>
          </p:nvPr>
        </p:nvSpPr>
        <p:spPr bwMode="auto">
          <a:xfrm>
            <a:off x="7791450" y="3524250"/>
            <a:ext cx="9048900" cy="1333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450"/>
              <a:buNone/>
              <a:defRPr/>
            </a:pPr>
            <a:r>
              <a:rPr lang="ar-SA" sz="6450" b="1">
                <a:solidFill>
                  <a:srgbClr val="F2F4FF"/>
                </a:solidFill>
                <a:latin typeface="Readex Pro"/>
                <a:ea typeface="Readex Pro"/>
                <a:cs typeface="Readex Pro"/>
              </a:rPr>
              <a:t>شجرة الأسانيد الذكية</a:t>
            </a:r>
            <a:endParaRPr/>
          </a:p>
        </p:txBody>
      </p:sp>
      <p:sp>
        <p:nvSpPr>
          <p:cNvPr id="549309696" name="Google Shape;487;p8"/>
          <p:cNvSpPr txBox="1"/>
          <p:nvPr>
            <p:ph type="body" idx="1"/>
          </p:nvPr>
        </p:nvSpPr>
        <p:spPr bwMode="auto">
          <a:xfrm>
            <a:off x="7791450" y="5334000"/>
            <a:ext cx="9048900" cy="16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3300"/>
              <a:buNone/>
              <a:defRPr/>
            </a:pPr>
            <a:r>
              <a:rPr lang="ar-SA" sz="3300" b="0">
                <a:solidFill>
                  <a:srgbClr val="2EF2C2"/>
                </a:solidFill>
                <a:latin typeface="Readex Pro"/>
                <a:ea typeface="Readex Pro"/>
                <a:cs typeface="Readex Pro"/>
              </a:rPr>
              <a:t>أداة تحوّل نص السند إلى رسم تفاعلي، وتوثّق مصادر المعلومات بشفافية تامة.</a:t>
            </a:r>
            <a:endParaRPr/>
          </a:p>
        </p:txBody>
      </p:sp>
      <p:sp>
        <p:nvSpPr>
          <p:cNvPr id="807176078" name="Google Shape;488;p8"/>
          <p:cNvSpPr/>
          <p:nvPr/>
        </p:nvSpPr>
        <p:spPr bwMode="auto">
          <a:xfrm>
            <a:off x="1143000" y="8843963"/>
            <a:ext cx="16002000" cy="9600"/>
          </a:xfrm>
          <a:prstGeom prst="rect">
            <a:avLst/>
          </a:prstGeom>
          <a:solidFill>
            <a:srgbClr val="FFFFFF">
              <a:alpha val="12160"/>
            </a:srgbClr>
          </a:solidFill>
          <a:ln>
            <a:noFill/>
          </a:ln>
        </p:spPr>
        <p:txBody>
          <a:bodyPr spcFirstLastPara="1" wrap="square" lIns="91425" tIns="91425" rIns="91425" bIns="91425" anchor="ctr" anchorCtr="0">
            <a:noAutofit/>
          </a:bodyPr>
          <a:lstStyle/>
          <a:p>
            <a:pPr marL="0" lvl="0" indent="0" algn="r" rtl="1">
              <a:lnSpc>
                <a:spcPct val="114999"/>
              </a:lnSpc>
              <a:spcBef>
                <a:spcPts val="0"/>
              </a:spcBef>
              <a:spcAft>
                <a:spcPts val="0"/>
              </a:spcAft>
              <a:buNone/>
              <a:defRPr/>
            </a:pPr>
            <a:endParaRPr/>
          </a:p>
        </p:txBody>
      </p:sp>
      <p:sp>
        <p:nvSpPr>
          <p:cNvPr id="853403724" name="Google Shape;489;p8"/>
          <p:cNvSpPr/>
          <p:nvPr/>
        </p:nvSpPr>
        <p:spPr bwMode="auto">
          <a:xfrm>
            <a:off x="14472130" y="9120188"/>
            <a:ext cx="2358000" cy="347700"/>
          </a:xfrm>
          <a:prstGeom prst="rect">
            <a:avLst/>
          </a:prstGeom>
          <a:noFill/>
          <a:ln>
            <a:noFill/>
          </a:ln>
        </p:spPr>
        <p:txBody>
          <a:bodyPr spcFirstLastPara="1" wrap="square" lIns="25400" tIns="25400" rIns="25400" bIns="25400" anchor="ctr" anchorCtr="0">
            <a:noAutofit/>
          </a:bodyPr>
          <a:lstStyle/>
          <a:p>
            <a:pPr marL="0" marR="0" lvl="0" indent="0" algn="r"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المسار 04</a:t>
            </a:r>
            <a:endParaRPr sz="1950" i="0" u="none" strike="noStrike" cap="none">
              <a:solidFill>
                <a:srgbClr val="000000"/>
              </a:solidFill>
              <a:latin typeface="Readex Pro Light"/>
              <a:ea typeface="Readex Pro Light"/>
              <a:cs typeface="Readex Pro Light"/>
            </a:endParaRPr>
          </a:p>
        </p:txBody>
      </p:sp>
      <p:sp>
        <p:nvSpPr>
          <p:cNvPr id="1036266030" name="Google Shape;490;p8"/>
          <p:cNvSpPr/>
          <p:nvPr/>
        </p:nvSpPr>
        <p:spPr bwMode="auto">
          <a:xfrm>
            <a:off x="1397000" y="9120188"/>
            <a:ext cx="2765700" cy="347700"/>
          </a:xfrm>
          <a:prstGeom prst="rect">
            <a:avLst/>
          </a:prstGeom>
          <a:noFill/>
          <a:ln>
            <a:noFill/>
          </a:ln>
        </p:spPr>
        <p:txBody>
          <a:bodyPr spcFirstLastPara="1" wrap="square" lIns="25400" tIns="25400" rIns="25400" bIns="25400" anchor="ctr" anchorCtr="0">
            <a:noAutofit/>
          </a:bodyPr>
          <a:lstStyle/>
          <a:p>
            <a:pPr marL="0" marR="0" lvl="0" indent="0" algn="l"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أكتوبر 2026</a:t>
            </a:r>
            <a:endParaRPr sz="1950" i="0" u="none" strike="noStrike" cap="none">
              <a:solidFill>
                <a:srgbClr val="000000"/>
              </a:solidFill>
              <a:latin typeface="Readex Pro Light"/>
              <a:ea typeface="Readex Pro Light"/>
              <a:cs typeface="Readex Pro Light"/>
            </a:endParaRPr>
          </a:p>
        </p:txBody>
      </p:sp>
      <p:pic>
        <p:nvPicPr>
          <p:cNvPr id="1535635573" name="Google Shape;491;p8"/>
          <p:cNvPicPr/>
          <p:nvPr/>
        </p:nvPicPr>
        <p:blipFill rotWithShape="1">
          <a:blip r:embed="rId5">
            <a:alphaModFix/>
          </a:blip>
          <a:srcRect l="0" t="0" r="0" b="0"/>
          <a:stretch/>
        </p:blipFill>
        <p:spPr bwMode="auto">
          <a:xfrm>
            <a:off x="1078250" y="691134"/>
            <a:ext cx="6572252" cy="1684781"/>
          </a:xfrm>
          <a:prstGeom prst="rect">
            <a:avLst/>
          </a:prstGeom>
          <a:noFill/>
          <a:ln>
            <a:noFill/>
          </a:ln>
        </p:spPr>
      </p:pic>
      <p:pic>
        <p:nvPicPr>
          <p:cNvPr id="937418510" name="Google Shape;492;p8"/>
          <p:cNvPicPr/>
          <p:nvPr/>
        </p:nvPicPr>
        <p:blipFill rotWithShape="1">
          <a:blip r:embed="rId6">
            <a:alphaModFix/>
          </a:blip>
          <a:srcRect l="0" t="0" r="0" b="0"/>
          <a:stretch/>
        </p:blipFill>
        <p:spPr bwMode="auto">
          <a:xfrm>
            <a:off x="14954250" y="840995"/>
            <a:ext cx="2190750" cy="1385061"/>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568635245" name="Google Shape;556;p12"/>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095232136" name="Google Shape;557;p12"/>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2036427920" name="Google Shape;558;p12"/>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557383437" name="Google Shape;559;p12"/>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المشكلة والمستفيد</a:t>
            </a:r>
            <a:endParaRPr/>
          </a:p>
        </p:txBody>
      </p:sp>
      <p:sp>
        <p:nvSpPr>
          <p:cNvPr id="719912606" name="Google Shape;560;p12"/>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التحقق من السند مبعثر بين الكتب</a:t>
            </a:r>
            <a:endParaRPr/>
          </a:p>
        </p:txBody>
      </p:sp>
      <p:sp>
        <p:nvSpPr>
          <p:cNvPr id="403975437" name="Google Shape;561;p1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321057714" name="Google Shape;562;p12"/>
          <p:cNvSpPr txBox="1"/>
          <p:nvPr>
            <p:ph type="body" idx="2"/>
          </p:nvPr>
        </p:nvSpPr>
        <p:spPr bwMode="auto">
          <a:xfrm>
            <a:off x="5886450" y="3604500"/>
            <a:ext cx="10953900" cy="2239800"/>
          </a:xfrm>
          <a:prstGeom prst="rect">
            <a:avLst/>
          </a:prstGeom>
          <a:noFill/>
          <a:ln>
            <a:noFill/>
          </a:ln>
        </p:spPr>
        <p:txBody>
          <a:bodyPr spcFirstLastPara="1" wrap="square" lIns="0" tIns="0" rIns="0" bIns="0" anchor="t" anchorCtr="0">
            <a:noAutofit/>
          </a:bodyPr>
          <a:lstStyle/>
          <a:p>
            <a:pPr marL="0" lvl="0" indent="0" algn="r" rtl="1">
              <a:lnSpc>
                <a:spcPct val="114999"/>
              </a:lnSpc>
              <a:spcBef>
                <a:spcPts val="0"/>
              </a:spcBef>
              <a:spcAft>
                <a:spcPts val="0"/>
              </a:spcAft>
              <a:buSzPts val="3225"/>
              <a:buNone/>
              <a:defRPr/>
            </a:pPr>
            <a:r>
              <a:rPr lang="ar-SA" sz="3250">
                <a:solidFill>
                  <a:srgbClr val="F2F4FF"/>
                </a:solidFill>
                <a:latin typeface="Readex Pro Light"/>
                <a:ea typeface="Readex Pro Light"/>
                <a:cs typeface="Readex Pro Light"/>
              </a:rPr>
              <a:t>يحتاج المعرِّف بالإسلام والباحث إلى معرفة: هل السند متصل؟ ومن رواته؟ وما قاله العلماء فيهم؟ هذه المعلومات متفرقة بين كتب الحديث وكتب التراجم والعلل، وتُقرأ نصاً دون رؤية شاملة لطرق الحديث.</a:t>
            </a:r>
            <a:endParaRPr>
              <a:latin typeface="Readex Pro Light"/>
              <a:ea typeface="Readex Pro Light"/>
              <a:cs typeface="Readex Pro Light"/>
            </a:endParaRPr>
          </a:p>
        </p:txBody>
      </p:sp>
      <p:sp>
        <p:nvSpPr>
          <p:cNvPr id="321401468" name="Google Shape;563;p12"/>
          <p:cNvSpPr txBox="1"/>
          <p:nvPr>
            <p:ph type="body" idx="3"/>
          </p:nvPr>
        </p:nvSpPr>
        <p:spPr bwMode="auto">
          <a:xfrm>
            <a:off x="5886450" y="7239000"/>
            <a:ext cx="1095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700"/>
              <a:buNone/>
              <a:defRPr/>
            </a:pPr>
            <a:r>
              <a:rPr lang="ar-SA" sz="2700" b="1">
                <a:solidFill>
                  <a:srgbClr val="2EF2C2"/>
                </a:solidFill>
                <a:latin typeface="Readex Pro"/>
                <a:ea typeface="Readex Pro"/>
                <a:cs typeface="Readex Pro"/>
              </a:rPr>
              <a:t>معيار النجاح</a:t>
            </a:r>
            <a:endParaRPr/>
          </a:p>
        </p:txBody>
      </p:sp>
      <p:sp>
        <p:nvSpPr>
          <p:cNvPr id="2033277569" name="Google Shape;564;p12"/>
          <p:cNvSpPr txBox="1"/>
          <p:nvPr>
            <p:ph type="body" idx="4"/>
          </p:nvPr>
        </p:nvSpPr>
        <p:spPr bwMode="auto">
          <a:xfrm>
            <a:off x="5886450" y="8001000"/>
            <a:ext cx="10953900" cy="857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تحقق أوضح وأسرع، ومصدر وحالة دليل ظاهران، وتمييز ما تؤيده المصادر مما يحتاج إلى تحقق أو إحالة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235989607" name="Google Shape;536;p11"/>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370791795" name="Google Shape;537;p11"/>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الحل</a:t>
            </a:r>
            <a:endParaRPr/>
          </a:p>
        </p:txBody>
      </p:sp>
      <p:sp>
        <p:nvSpPr>
          <p:cNvPr id="1602936011" name="Google Shape;538;p11"/>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سند يُرسم ويُفحص</a:t>
            </a:r>
            <a:endParaRPr/>
          </a:p>
        </p:txBody>
      </p:sp>
      <p:sp>
        <p:nvSpPr>
          <p:cNvPr id="1797078441" name="Google Shape;539;p11"/>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إمكانات في مكان واحد</a:t>
            </a:r>
            <a:endParaRPr/>
          </a:p>
        </p:txBody>
      </p:sp>
      <p:sp>
        <p:nvSpPr>
          <p:cNvPr id="901916133" name="Google Shape;540;p1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921289574" name="Google Shape;541;p11"/>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إسناد تفاعلية</a:t>
            </a:r>
            <a:endParaRPr/>
          </a:p>
        </p:txBody>
      </p:sp>
      <p:sp>
        <p:nvSpPr>
          <p:cNvPr id="1824400662" name="Google Shape;542;p11"/>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من الصحابي إلى المصنِّف يُبرز المدار، أي الراوي الذي تلتقي عنده الطرق</a:t>
            </a:r>
            <a:endParaRPr/>
          </a:p>
        </p:txBody>
      </p:sp>
      <p:sp>
        <p:nvSpPr>
          <p:cNvPr id="377817988" name="Google Shape;543;p11"/>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فحص العلل</a:t>
            </a:r>
            <a:endParaRPr/>
          </a:p>
        </p:txBody>
      </p:sp>
      <p:sp>
        <p:nvSpPr>
          <p:cNvPr id="1342036465" name="Google Shape;544;p11"/>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قواعد المحدثين في كشف التدليس والاختلاط والانقطاع وغيرها، وهي تنبيهات لا أحكام</a:t>
            </a:r>
            <a:endParaRPr/>
          </a:p>
        </p:txBody>
      </p:sp>
      <p:sp>
        <p:nvSpPr>
          <p:cNvPr id="469631670" name="Google Shape;545;p11"/>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أقوال الجرح والتعديل</a:t>
            </a:r>
            <a:endParaRPr/>
          </a:p>
        </p:txBody>
      </p:sp>
      <p:sp>
        <p:nvSpPr>
          <p:cNvPr id="1053718219" name="Google Shape;546;p11"/>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بنصها الحرفي، منسوبة لأصحابها ومصدرها</a:t>
            </a:r>
            <a:endParaRPr/>
          </a:p>
        </p:txBody>
      </p:sp>
      <p:sp>
        <p:nvSpPr>
          <p:cNvPr id="904166625" name="Google Shape;547;p11"/>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التخريج المقارن</a:t>
            </a:r>
            <a:endParaRPr/>
          </a:p>
        </p:txBody>
      </p:sp>
      <p:sp>
        <p:nvSpPr>
          <p:cNvPr id="1651957219" name="Google Shape;548;p11"/>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روايات الحديث من عدة كتب في شجرة واحدة</a:t>
            </a:r>
            <a:endParaRPr/>
          </a:p>
        </p:txBody>
      </p:sp>
      <p:sp>
        <p:nvSpPr>
          <p:cNvPr id="407230965" name="Google Shape;549;p11"/>
          <p:cNvSpPr/>
          <p:nvPr/>
        </p:nvSpPr>
        <p:spPr bwMode="auto">
          <a:xfrm>
            <a:off x="76962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916360165" name="Google Shape;550;p11"/>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335745135" name="Google Shape;817;p24" title="خلفية هكثون4.png"/>
          <p:cNvPicPr/>
          <p:nvPr/>
        </p:nvPicPr>
        <p:blipFill rotWithShape="1">
          <a:blip r:embed="rId3">
            <a:alphaModFix/>
          </a:blip>
          <a:stretch/>
        </p:blipFill>
        <p:spPr bwMode="auto">
          <a:xfrm>
            <a:off x="0" y="0"/>
            <a:ext cx="18288000" cy="10287000"/>
          </a:xfrm>
          <a:prstGeom prst="rect">
            <a:avLst/>
          </a:prstGeom>
          <a:noFill/>
          <a:ln>
            <a:noFill/>
          </a:ln>
        </p:spPr>
      </p:pic>
      <p:sp>
        <p:nvSpPr>
          <p:cNvPr id="1158670603" name="Google Shape;818;p24"/>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آلية العمل</a:t>
            </a:r>
            <a:endParaRPr/>
          </a:p>
        </p:txBody>
      </p:sp>
      <p:sp>
        <p:nvSpPr>
          <p:cNvPr id="1163353212" name="Google Shape;819;p24"/>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من الطلب إلى حالة الدليل</a:t>
            </a:r>
            <a:endParaRPr/>
          </a:p>
        </p:txBody>
      </p:sp>
      <p:sp>
        <p:nvSpPr>
          <p:cNvPr id="1099991347" name="Google Shape;820;p24"/>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خطوات</a:t>
            </a:r>
            <a:endParaRPr/>
          </a:p>
        </p:txBody>
      </p:sp>
      <p:sp>
        <p:nvSpPr>
          <p:cNvPr id="498634904" name="Google Shape;821;p2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458413316" name="Google Shape;822;p24"/>
          <p:cNvSpPr/>
          <p:nvPr/>
        </p:nvSpPr>
        <p:spPr bwMode="auto">
          <a:xfrm>
            <a:off x="13716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670" lvl="0" indent="0" algn="r" rtl="0">
              <a:spcBef>
                <a:spcPts val="0"/>
              </a:spcBef>
              <a:spcAft>
                <a:spcPts val="0"/>
              </a:spcAft>
              <a:buNone/>
              <a:defRPr/>
            </a:pPr>
            <a:r>
              <a:rPr lang="ar-SA" sz="3600" b="1">
                <a:solidFill>
                  <a:srgbClr val="2EF2C2"/>
                </a:solidFill>
                <a:latin typeface="Readex Pro"/>
                <a:ea typeface="Readex Pro"/>
                <a:cs typeface="Readex Pro"/>
              </a:rPr>
              <a:t>01</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المدخلات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طرف الحديث أو ألفاظه</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بحث نصي في كتب الحديث</a:t>
            </a:r>
            <a:endParaRPr>
              <a:solidFill>
                <a:schemeClr val="dk1"/>
              </a:solidFill>
              <a:latin typeface="Readex Pro"/>
              <a:ea typeface="Readex Pro"/>
              <a:cs typeface="Readex Pro"/>
            </a:endParaRPr>
          </a:p>
          <a:p>
            <a:pPr marL="0" lvl="0" indent="0" algn="r" rtl="1">
              <a:lnSpc>
                <a:spcPct val="114999"/>
              </a:lnSpc>
              <a:spcBef>
                <a:spcPts val="0"/>
              </a:spcBef>
              <a:spcAft>
                <a:spcPts val="0"/>
              </a:spcAft>
              <a:buNone/>
              <a:defRPr/>
            </a:pPr>
            <a:endParaRPr sz="1200"/>
          </a:p>
        </p:txBody>
      </p:sp>
      <p:sp>
        <p:nvSpPr>
          <p:cNvPr id="295063761" name="Google Shape;823;p24"/>
          <p:cNvSpPr/>
          <p:nvPr/>
        </p:nvSpPr>
        <p:spPr bwMode="auto">
          <a:xfrm>
            <a:off x="9715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02</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المعالجة</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بناء شجرة الإسناد</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وفحص العلل آلياً</a:t>
            </a:r>
            <a:endParaRPr sz="3600" b="1">
              <a:solidFill>
                <a:srgbClr val="2EF2C2"/>
              </a:solidFill>
              <a:latin typeface="Readex Pro"/>
              <a:ea typeface="Readex Pro"/>
              <a:cs typeface="Readex Pro"/>
            </a:endParaRPr>
          </a:p>
        </p:txBody>
      </p:sp>
      <p:sp>
        <p:nvSpPr>
          <p:cNvPr id="987441879" name="Google Shape;824;p24"/>
          <p:cNvSpPr/>
          <p:nvPr/>
        </p:nvSpPr>
        <p:spPr bwMode="auto">
          <a:xfrm>
            <a:off x="5715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125" lvl="0" indent="0" algn="r" rtl="0">
              <a:spcBef>
                <a:spcPts val="0"/>
              </a:spcBef>
              <a:spcAft>
                <a:spcPts val="0"/>
              </a:spcAft>
              <a:buNone/>
              <a:defRPr/>
            </a:pPr>
            <a:r>
              <a:rPr lang="ar-SA" sz="3600" b="1">
                <a:solidFill>
                  <a:srgbClr val="2EF2C2"/>
                </a:solidFill>
                <a:latin typeface="Readex Pro"/>
                <a:ea typeface="Readex Pro"/>
                <a:cs typeface="Readex Pro"/>
              </a:rPr>
              <a:t>03</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المخرجات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رسم السند والأقوال</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مع حالة الدليل</a:t>
            </a:r>
            <a:endParaRPr sz="3600" b="1">
              <a:solidFill>
                <a:srgbClr val="2EF2C2"/>
              </a:solidFill>
              <a:latin typeface="Readex Pro"/>
              <a:ea typeface="Readex Pro"/>
              <a:cs typeface="Readex Pro"/>
            </a:endParaRPr>
          </a:p>
        </p:txBody>
      </p:sp>
      <p:sp>
        <p:nvSpPr>
          <p:cNvPr id="18176407" name="Google Shape;825;p24"/>
          <p:cNvSpPr/>
          <p:nvPr/>
        </p:nvSpPr>
        <p:spPr bwMode="auto">
          <a:xfrm>
            <a:off x="1714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04</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الأثر</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تحقق أوضح</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سنقيسه مع مستخدمين</a:t>
            </a:r>
            <a:endParaRPr sz="3600" b="1">
              <a:solidFill>
                <a:srgbClr val="2EF2C2"/>
              </a:solidFill>
              <a:latin typeface="Readex Pro"/>
              <a:ea typeface="Readex Pro"/>
              <a:cs typeface="Readex Pro"/>
            </a:endParaRPr>
          </a:p>
        </p:txBody>
      </p:sp>
      <p:pic>
        <p:nvPicPr>
          <p:cNvPr id="152433935" name="Google Shape;826;p24"/>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البحث بطرف الحديث</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عبارة «اتق الله حيثما كنت» تأتي حرفياً من 12 رواية في عدة كتب</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image.png"/>
          <p:cNvPicPr>
            <a:picLocks noChangeAspect="1"/>
          </p:cNvPicPr>
          <p:nvPr/>
        </p:nvPicPr>
        <p:blipFill>
          <a:blip r:embed="rId4"/>
          <a:stretch>
            <a:fillRect/>
          </a:stretch>
        </p:blipFill>
        <p:spPr>
          <a:xfrm>
            <a:off x="3474720" y="3651885"/>
            <a:ext cx="11338560" cy="6377940"/>
          </a:xfrm>
          <a:prstGeom prst="rect">
            <a:avLst/>
          </a:prstGeom>
          <a:ln w="19050">
            <a:solidFill>
              <a:srgbClr val="12183F"/>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التخريج المقارن: الهدف الرئيسي</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10 روايات من 7 كتب في شجرة واحدة، والمدارات ومواضع الانتباه ظاهرة</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takhreej_many.png"/>
          <p:cNvPicPr>
            <a:picLocks noChangeAspect="1"/>
          </p:cNvPicPr>
          <p:nvPr/>
        </p:nvPicPr>
        <p:blipFill>
          <a:blip r:embed="rId6"/>
          <a:stretch>
            <a:fillRect/>
          </a:stretch>
        </p:blipFill>
        <p:spPr>
          <a:xfrm>
            <a:off x="4989061" y="3651885"/>
            <a:ext cx="8309877" cy="6377940"/>
          </a:xfrm>
          <a:prstGeom prst="rect">
            <a:avLst/>
          </a:prstGeom>
          <a:ln w="19050">
            <a:solidFill>
              <a:srgbClr val="12183F"/>
            </a:solidFill>
          </a:ln>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فحص العلل</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«عنعنة مدلس»: تنبيه آلي يتطلب تحققاً ولا يغني عن نظر المحقق</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ilal_taqwa.png"/>
          <p:cNvPicPr>
            <a:picLocks noChangeAspect="1"/>
          </p:cNvPicPr>
          <p:nvPr/>
        </p:nvPicPr>
        <p:blipFill>
          <a:blip r:embed="rId6"/>
          <a:stretch>
            <a:fillRect/>
          </a:stretch>
        </p:blipFill>
        <p:spPr>
          <a:xfrm>
            <a:off x="6570445" y="3651885"/>
            <a:ext cx="5147109" cy="6377940"/>
          </a:xfrm>
          <a:prstGeom prst="rect">
            <a:avLst/>
          </a:prstGeom>
          <a:ln w="19050">
            <a:solidFill>
              <a:srgbClr val="12183F"/>
            </a:solidFill>
          </a:ln>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درج الراوي وحالة الدليل</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حالة الدليل «يتطلب تحققاً»؛ الأقوال غير مصنَّفة فيُحال القارئ إلى نصوصها</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narrator_habib.png"/>
          <p:cNvPicPr>
            <a:picLocks noChangeAspect="1"/>
          </p:cNvPicPr>
          <p:nvPr/>
        </p:nvPicPr>
        <p:blipFill>
          <a:blip r:embed="rId6"/>
          <a:stretch>
            <a:fillRect/>
          </a:stretch>
        </p:blipFill>
        <p:spPr>
          <a:xfrm>
            <a:off x="6866164" y="3651885"/>
            <a:ext cx="4555671" cy="6377940"/>
          </a:xfrm>
          <a:prstGeom prst="rect">
            <a:avLst/>
          </a:prstGeom>
          <a:ln w="19050">
            <a:solidFill>
              <a:srgbClr val="12183F"/>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404493557" name="Google Shape;858;p27"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1878689801" name="Google Shape;859;p2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999492533" name="Google Shape;860;p2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ما يميّز الأداة</a:t>
            </a:r>
            <a:endParaRPr/>
          </a:p>
        </p:txBody>
      </p:sp>
      <p:sp>
        <p:nvSpPr>
          <p:cNvPr id="1065714166" name="Google Shape;861;p2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عناصر الحل</a:t>
            </a:r>
            <a:endParaRPr/>
          </a:p>
        </p:txBody>
      </p:sp>
      <p:sp>
        <p:nvSpPr>
          <p:cNvPr id="2060576995" name="Google Shape;862;p2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الذي يجعلها موثوقة</a:t>
            </a:r>
            <a:endParaRPr/>
          </a:p>
        </p:txBody>
      </p:sp>
      <p:sp>
        <p:nvSpPr>
          <p:cNvPr id="2094933669" name="Google Shape;863;p2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735927859" name="Google Shape;864;p27"/>
          <p:cNvPicPr/>
          <p:nvPr/>
        </p:nvPicPr>
        <p:blipFill rotWithShape="1">
          <a:blip r:embed="rId5">
            <a:alphaModFix/>
          </a:blip>
          <a:srcRect l="0" t="0" r="0" b="0"/>
          <a:stretch/>
        </p:blipFill>
        <p:spPr bwMode="auto">
          <a:xfrm>
            <a:off x="14458950" y="4000500"/>
            <a:ext cx="1428750" cy="1428750"/>
          </a:xfrm>
          <a:prstGeom prst="rect">
            <a:avLst/>
          </a:prstGeom>
          <a:noFill/>
          <a:ln>
            <a:noFill/>
          </a:ln>
        </p:spPr>
      </p:pic>
      <p:sp>
        <p:nvSpPr>
          <p:cNvPr id="66484396" name="Google Shape;865;p27"/>
          <p:cNvSpPr txBox="1"/>
          <p:nvPr>
            <p:ph type="body" idx="3"/>
          </p:nvPr>
        </p:nvSpPr>
        <p:spPr bwMode="auto">
          <a:xfrm>
            <a:off x="13411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ذكاء اصطناعي منضبط</a:t>
            </a:r>
            <a:endParaRPr/>
          </a:p>
        </p:txBody>
      </p:sp>
      <p:sp>
        <p:nvSpPr>
          <p:cNvPr id="891437678" name="Google Shape;866;p27"/>
          <p:cNvSpPr txBox="1"/>
          <p:nvPr>
            <p:ph type="body" idx="4"/>
          </p:nvPr>
        </p:nvSpPr>
        <p:spPr bwMode="auto">
          <a:xfrm>
            <a:off x="13411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اقتباس حرفي يُتحقق منه،</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ويمتنع عند غياب المرجع</a:t>
            </a:r>
            <a:endParaRPr/>
          </a:p>
        </p:txBody>
      </p:sp>
      <p:pic>
        <p:nvPicPr>
          <p:cNvPr id="340617817" name="Google Shape;867;p27"/>
          <p:cNvPicPr/>
          <p:nvPr/>
        </p:nvPicPr>
        <p:blipFill rotWithShape="1">
          <a:blip r:embed="rId6">
            <a:alphaModFix/>
          </a:blip>
          <a:srcRect l="0" t="0" r="0" b="0"/>
          <a:stretch/>
        </p:blipFill>
        <p:spPr bwMode="auto">
          <a:xfrm>
            <a:off x="10458450" y="4000500"/>
            <a:ext cx="1428750" cy="1428750"/>
          </a:xfrm>
          <a:prstGeom prst="rect">
            <a:avLst/>
          </a:prstGeom>
          <a:noFill/>
          <a:ln>
            <a:noFill/>
          </a:ln>
        </p:spPr>
      </p:pic>
      <p:sp>
        <p:nvSpPr>
          <p:cNvPr id="1723366071" name="Google Shape;868;p27"/>
          <p:cNvSpPr txBox="1"/>
          <p:nvPr>
            <p:ph type="body" idx="5"/>
          </p:nvPr>
        </p:nvSpPr>
        <p:spPr bwMode="auto">
          <a:xfrm>
            <a:off x="9410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قاموس المصطلحات</a:t>
            </a:r>
            <a:endParaRPr/>
          </a:p>
        </p:txBody>
      </p:sp>
      <p:sp>
        <p:nvSpPr>
          <p:cNvPr id="2048494057" name="Google Shape;869;p27"/>
          <p:cNvSpPr txBox="1"/>
          <p:nvPr>
            <p:ph type="body" idx="6"/>
          </p:nvPr>
        </p:nvSpPr>
        <p:spPr bwMode="auto">
          <a:xfrm>
            <a:off x="9410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تعريفات مبسطة بمقابل</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إنجليزي داخل الواجهة</a:t>
            </a:r>
            <a:endParaRPr/>
          </a:p>
        </p:txBody>
      </p:sp>
      <p:pic>
        <p:nvPicPr>
          <p:cNvPr id="375812355" name="Google Shape;870;p27"/>
          <p:cNvPicPr/>
          <p:nvPr/>
        </p:nvPicPr>
        <p:blipFill rotWithShape="1">
          <a:blip r:embed="rId7">
            <a:alphaModFix/>
          </a:blip>
          <a:srcRect l="0" t="0" r="0" b="0"/>
          <a:stretch/>
        </p:blipFill>
        <p:spPr bwMode="auto">
          <a:xfrm>
            <a:off x="6457950" y="4000500"/>
            <a:ext cx="1428750" cy="1428750"/>
          </a:xfrm>
          <a:prstGeom prst="rect">
            <a:avLst/>
          </a:prstGeom>
          <a:noFill/>
          <a:ln>
            <a:noFill/>
          </a:ln>
        </p:spPr>
      </p:pic>
      <p:sp>
        <p:nvSpPr>
          <p:cNvPr id="1376922963" name="Google Shape;871;p27"/>
          <p:cNvSpPr txBox="1"/>
          <p:nvPr>
            <p:ph type="body" idx="7"/>
          </p:nvPr>
        </p:nvSpPr>
        <p:spPr bwMode="auto">
          <a:xfrm>
            <a:off x="5410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أقوال منسوبة</a:t>
            </a:r>
            <a:endParaRPr/>
          </a:p>
        </p:txBody>
      </p:sp>
      <p:sp>
        <p:nvSpPr>
          <p:cNvPr id="1291210075" name="Google Shape;872;p27"/>
          <p:cNvSpPr txBox="1"/>
          <p:nvPr>
            <p:ph type="body" idx="8"/>
          </p:nvPr>
        </p:nvSpPr>
        <p:spPr bwMode="auto">
          <a:xfrm>
            <a:off x="5410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تُعرض الأقوال بأسمائها</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مع مصدر كل قول</a:t>
            </a:r>
            <a:endParaRPr/>
          </a:p>
        </p:txBody>
      </p:sp>
      <p:pic>
        <p:nvPicPr>
          <p:cNvPr id="1903155528" name="Google Shape;873;p27"/>
          <p:cNvPicPr/>
          <p:nvPr/>
        </p:nvPicPr>
        <p:blipFill rotWithShape="1">
          <a:blip r:embed="rId8">
            <a:alphaModFix/>
          </a:blip>
          <a:srcRect l="0" t="0" r="0" b="0"/>
          <a:stretch/>
        </p:blipFill>
        <p:spPr bwMode="auto">
          <a:xfrm>
            <a:off x="2457450" y="4000500"/>
            <a:ext cx="1428750" cy="1428750"/>
          </a:xfrm>
          <a:prstGeom prst="rect">
            <a:avLst/>
          </a:prstGeom>
          <a:noFill/>
          <a:ln>
            <a:noFill/>
          </a:ln>
        </p:spPr>
      </p:pic>
      <p:sp>
        <p:nvSpPr>
          <p:cNvPr id="597474968" name="Google Shape;874;p27"/>
          <p:cNvSpPr txBox="1"/>
          <p:nvPr>
            <p:ph type="body" idx="9"/>
          </p:nvPr>
        </p:nvSpPr>
        <p:spPr bwMode="auto">
          <a:xfrm>
            <a:off x="1409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حالة الدليل</a:t>
            </a:r>
            <a:endParaRPr/>
          </a:p>
        </p:txBody>
      </p:sp>
      <p:sp>
        <p:nvSpPr>
          <p:cNvPr id="1832925308" name="Google Shape;875;p27"/>
          <p:cNvSpPr txBox="1"/>
          <p:nvPr>
            <p:ph type="body" idx="13"/>
          </p:nvPr>
        </p:nvSpPr>
        <p:spPr bwMode="auto">
          <a:xfrm>
            <a:off x="1409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مؤيَّد بنص مصدر، أو</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يتطلب تحققاً، أو لا يوجد مرجع كافٍ</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459712520" name="Google Shape;709;p20" title="خلفية هكثون5.png"/>
          <p:cNvPicPr/>
          <p:nvPr/>
        </p:nvPicPr>
        <p:blipFill rotWithShape="1">
          <a:blip r:embed="rId3">
            <a:alphaModFix/>
          </a:blip>
          <a:stretch/>
        </p:blipFill>
        <p:spPr bwMode="auto">
          <a:xfrm>
            <a:off x="0" y="0"/>
            <a:ext cx="18288000" cy="10287000"/>
          </a:xfrm>
          <a:prstGeom prst="rect">
            <a:avLst/>
          </a:prstGeom>
          <a:noFill/>
          <a:ln>
            <a:noFill/>
          </a:ln>
        </p:spPr>
      </p:pic>
      <p:sp>
        <p:nvSpPr>
          <p:cNvPr id="848655203" name="Google Shape;710;p20"/>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6150EA"/>
                </a:solidFill>
                <a:latin typeface="Readex Pro"/>
                <a:ea typeface="Readex Pro"/>
                <a:cs typeface="Readex Pro"/>
              </a:rPr>
              <a:t>السلامة العلمية</a:t>
            </a:r>
            <a:endParaRPr/>
          </a:p>
        </p:txBody>
      </p:sp>
      <p:sp>
        <p:nvSpPr>
          <p:cNvPr id="1664592704" name="Google Shape;711;p20"/>
          <p:cNvSpPr txBox="1"/>
          <p:nvPr>
            <p:ph type="title"/>
          </p:nvPr>
        </p:nvSpPr>
        <p:spPr bwMode="auto">
          <a:xfrm>
            <a:off x="6637950" y="1809750"/>
            <a:ext cx="102024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12183F"/>
                </a:solidFill>
                <a:latin typeface="Readex Pro"/>
                <a:ea typeface="Readex Pro"/>
                <a:cs typeface="Readex Pro"/>
              </a:rPr>
              <a:t>حدود واضحة لا تتجاوزها الأداة</a:t>
            </a:r>
            <a:endParaRPr/>
          </a:p>
        </p:txBody>
      </p:sp>
      <p:sp>
        <p:nvSpPr>
          <p:cNvPr id="1919323526" name="Google Shape;712;p20"/>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4A5590"/>
                </a:solidFill>
                <a:latin typeface="Readex Pro"/>
                <a:ea typeface="Readex Pro"/>
                <a:cs typeface="Readex Pro"/>
              </a:rPr>
              <a:t>منسجمة مع ضوابط المرجعية العلمية للتحدي</a:t>
            </a:r>
            <a:endParaRPr/>
          </a:p>
        </p:txBody>
      </p:sp>
      <p:sp>
        <p:nvSpPr>
          <p:cNvPr id="2036214764" name="Google Shape;713;p2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4A5590"/>
                </a:solidFill>
                <a:latin typeface="Readex Pro"/>
                <a:ea typeface="Readex Pro"/>
                <a:cs typeface="Readex Pro"/>
              </a:rPr>
              <a:t>‹#›</a:t>
            </a:fld>
            <a:endParaRPr/>
          </a:p>
        </p:txBody>
      </p:sp>
      <p:sp>
        <p:nvSpPr>
          <p:cNvPr id="1044235853" name="Google Shape;714;p20"/>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لا فتوى ولا حكم نهائي</a:t>
            </a:r>
            <a:endParaRPr/>
          </a:p>
        </p:txBody>
      </p:sp>
      <p:sp>
        <p:nvSpPr>
          <p:cNvPr id="393614203" name="Google Shape;715;p20"/>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تُعرض الأقوال والمؤشرات، ويُحال إلى الدرر السنية وأهل الاختصاص</a:t>
            </a:r>
            <a:endParaRPr/>
          </a:p>
        </p:txBody>
      </p:sp>
      <p:sp>
        <p:nvSpPr>
          <p:cNvPr id="47688172" name="Google Shape;716;p20"/>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امتناع عند غياب المرجع</a:t>
            </a:r>
            <a:endParaRPr/>
          </a:p>
        </p:txBody>
      </p:sp>
      <p:sp>
        <p:nvSpPr>
          <p:cNvPr id="1682225954" name="Google Shape;717;p20"/>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راوٍ بلا أقوال مسجلة: لا تصنيف ولا تخمين، وتظهر عبارة «لا يوجد مرجع كافٍ»</a:t>
            </a:r>
            <a:endParaRPr/>
          </a:p>
        </p:txBody>
      </p:sp>
      <p:sp>
        <p:nvSpPr>
          <p:cNvPr id="928792565" name="Google Shape;718;p20"/>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اقتباس حرفي يُتحقق منه</a:t>
            </a:r>
            <a:endParaRPr/>
          </a:p>
        </p:txBody>
      </p:sp>
      <p:sp>
        <p:nvSpPr>
          <p:cNvPr id="1049471905" name="Google Shape;719;p20"/>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يُرفض أي اقتباس لا يطابق نص الأقوال المسجلة، وأي درجة لا يعرفها المقياس</a:t>
            </a:r>
            <a:endParaRPr/>
          </a:p>
        </p:txBody>
      </p:sp>
      <p:sp>
        <p:nvSpPr>
          <p:cNvPr id="1249623221" name="Google Shape;720;p20"/>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شفافية دائمة</a:t>
            </a:r>
            <a:endParaRPr/>
          </a:p>
        </p:txBody>
      </p:sp>
      <p:sp>
        <p:nvSpPr>
          <p:cNvPr id="1347961166" name="Google Shape;721;p20"/>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تنبيه ظاهر بأن الملخص مولَّد بمساعدة الذكاء الاصطناعي، مع الأقوال الأصلية</a:t>
            </a:r>
            <a:endParaRPr/>
          </a:p>
        </p:txBody>
      </p:sp>
      <p:pic>
        <p:nvPicPr>
          <p:cNvPr id="1336411066" name="Google Shape;722;p20" title="شعار تحدي الذكاء.png"/>
          <p:cNvPicPr/>
          <p:nvPr/>
        </p:nvPicPr>
        <p:blipFill rotWithShape="1">
          <a:blip r:embed="rId4">
            <a:alphaModFix/>
          </a:blip>
          <a:stretch/>
        </p:blipFill>
        <p:spPr bwMode="auto">
          <a:xfrm>
            <a:off x="1015225" y="572270"/>
            <a:ext cx="3490299" cy="1109450"/>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799888556" name="Google Shape;601;p15"/>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673023579" name="Google Shape;602;p15"/>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1839598733" name="Google Shape;603;p15"/>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949894444" name="Google Shape;604;p15"/>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البيانات</a:t>
            </a:r>
            <a:endParaRPr/>
          </a:p>
        </p:txBody>
      </p:sp>
      <p:sp>
        <p:nvSpPr>
          <p:cNvPr id="1446803544" name="Google Shape;605;p15"/>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قاعدة بيانات المشروع</a:t>
            </a:r>
            <a:endParaRPr/>
          </a:p>
        </p:txBody>
      </p:sp>
      <p:sp>
        <p:nvSpPr>
          <p:cNvPr id="47738158" name="Google Shape;606;p15"/>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الحالة الراهنة</a:t>
            </a:r>
            <a:endParaRPr/>
          </a:p>
        </p:txBody>
      </p:sp>
      <p:sp>
        <p:nvSpPr>
          <p:cNvPr id="135594447" name="Google Shape;607;p1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692460907" name="Google Shape;608;p15"/>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31</a:t>
            </a:r>
            <a:endParaRPr/>
          </a:p>
        </p:txBody>
      </p:sp>
      <p:sp>
        <p:nvSpPr>
          <p:cNvPr id="740223861" name="Google Shape;609;p15"/>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كتاب حديث</a:t>
            </a:r>
            <a:endParaRPr/>
          </a:p>
        </p:txBody>
      </p:sp>
      <p:sp>
        <p:nvSpPr>
          <p:cNvPr id="950519698" name="Google Shape;610;p15"/>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مجموعة سنية مسندة</a:t>
            </a:r>
            <a:endParaRPr/>
          </a:p>
        </p:txBody>
      </p:sp>
      <p:sp>
        <p:nvSpPr>
          <p:cNvPr id="518376739" name="Google Shape;611;p15"/>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274,597</a:t>
            </a:r>
            <a:endParaRPr/>
          </a:p>
        </p:txBody>
      </p:sp>
      <p:sp>
        <p:nvSpPr>
          <p:cNvPr id="1048003186" name="Google Shape;612;p15"/>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حديث وأثر</a:t>
            </a:r>
            <a:endParaRPr/>
          </a:p>
        </p:txBody>
      </p:sp>
      <p:sp>
        <p:nvSpPr>
          <p:cNvPr id="1616215197" name="Google Shape;613;p15"/>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مفهرس للبحث</a:t>
            </a:r>
            <a:endParaRPr/>
          </a:p>
        </p:txBody>
      </p:sp>
      <p:sp>
        <p:nvSpPr>
          <p:cNvPr id="140241979" name="Google Shape;614;p15"/>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1,217,978</a:t>
            </a:r>
            <a:endParaRPr/>
          </a:p>
        </p:txBody>
      </p:sp>
      <p:sp>
        <p:nvSpPr>
          <p:cNvPr id="83561752" name="Google Shape;615;p15"/>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حلقة إسناد</a:t>
            </a:r>
            <a:endParaRPr/>
          </a:p>
        </p:txBody>
      </p:sp>
      <p:sp>
        <p:nvSpPr>
          <p:cNvPr id="1401887728" name="Google Shape;616;p15"/>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شيخ ← تلميذ</a:t>
            </a:r>
            <a:endParaRPr/>
          </a:p>
        </p:txBody>
      </p:sp>
      <p:sp>
        <p:nvSpPr>
          <p:cNvPr id="4058155" name="Google Shape;617;p15"/>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23,502</a:t>
            </a:r>
            <a:endParaRPr/>
          </a:p>
        </p:txBody>
      </p:sp>
      <p:sp>
        <p:nvSpPr>
          <p:cNvPr id="1892317047" name="Google Shape;618;p15"/>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راوٍ</a:t>
            </a:r>
            <a:endParaRPr/>
          </a:p>
        </p:txBody>
      </p:sp>
      <p:sp>
        <p:nvSpPr>
          <p:cNvPr id="2116264876" name="Google Shape;619;p15"/>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مرتبط بأقوال العلماء حيث تتوفر</a:t>
            </a:r>
            <a:endParaRPr/>
          </a:p>
        </p:txBody>
      </p:sp>
      <p:sp>
        <p:nvSpPr>
          <p:cNvPr id="208941341" name="Google Shape;620;p15"/>
          <p:cNvSpPr txBox="1"/>
          <p:nvPr>
            <p:ph type="body" idx="18"/>
          </p:nvPr>
        </p:nvSpPr>
        <p:spPr bwMode="auto">
          <a:xfrm>
            <a:off x="8381075" y="8763000"/>
            <a:ext cx="8459100" cy="47639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المصدر: قاعدة بيانات المشروع، مبنية من المكتبة الشاملة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90177890" name="Google Shape;498;p9"/>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808398272" name="Google Shape;499;p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832108336" name="Google Shape;500;p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التقنيات</a:t>
            </a:r>
            <a:endParaRPr/>
          </a:p>
        </p:txBody>
      </p:sp>
      <p:sp>
        <p:nvSpPr>
          <p:cNvPr id="641480285" name="Google Shape;501;p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التقنيات المستخدمة</a:t>
            </a:r>
            <a:endParaRPr/>
          </a:p>
        </p:txBody>
      </p:sp>
      <p:sp>
        <p:nvSpPr>
          <p:cNvPr id="2012596618" name="Google Shape;502;p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413905680" name="Google Shape;503;p9"/>
          <p:cNvSpPr txBox="1"/>
          <p:nvPr>
            <p:ph type="body" idx="2"/>
          </p:nvPr>
        </p:nvSpPr>
        <p:spPr bwMode="auto">
          <a:xfrm>
            <a:off x="12077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1998260875" name="Google Shape;504;p9"/>
          <p:cNvSpPr txBox="1"/>
          <p:nvPr>
            <p:ph type="body" idx="3"/>
          </p:nvPr>
        </p:nvSpPr>
        <p:spPr bwMode="auto">
          <a:xfrm>
            <a:off x="12077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واجهة المستخدم</a:t>
            </a:r>
            <a:endParaRPr/>
          </a:p>
        </p:txBody>
      </p:sp>
      <p:sp>
        <p:nvSpPr>
          <p:cNvPr id="168761562" name="Google Shape;505;p9"/>
          <p:cNvSpPr txBox="1"/>
          <p:nvPr>
            <p:ph type="body" idx="4"/>
          </p:nvPr>
        </p:nvSpPr>
        <p:spPr bwMode="auto">
          <a:xfrm>
            <a:off x="12077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Next.js وReact وTypeScript</a:t>
            </a:r>
            <a:endParaRPr/>
          </a:p>
        </p:txBody>
      </p:sp>
      <p:sp>
        <p:nvSpPr>
          <p:cNvPr id="2082371640" name="Google Shape;506;p9"/>
          <p:cNvSpPr txBox="1"/>
          <p:nvPr>
            <p:ph type="body" idx="5"/>
          </p:nvPr>
        </p:nvSpPr>
        <p:spPr bwMode="auto">
          <a:xfrm>
            <a:off x="6743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1661270393" name="Google Shape;507;p9"/>
          <p:cNvSpPr txBox="1"/>
          <p:nvPr>
            <p:ph type="body" idx="6"/>
          </p:nvPr>
        </p:nvSpPr>
        <p:spPr bwMode="auto">
          <a:xfrm>
            <a:off x="6743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رسم الأسانيد</a:t>
            </a:r>
            <a:endParaRPr/>
          </a:p>
        </p:txBody>
      </p:sp>
      <p:sp>
        <p:nvSpPr>
          <p:cNvPr id="1467208680" name="Google Shape;508;p9"/>
          <p:cNvSpPr txBox="1"/>
          <p:nvPr>
            <p:ph type="body" idx="7"/>
          </p:nvPr>
        </p:nvSpPr>
        <p:spPr bwMode="auto">
          <a:xfrm>
            <a:off x="6743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React Flow مع ELK للتخطيط</a:t>
            </a:r>
            <a:endParaRPr>
              <a:latin typeface="Readex Pro Light"/>
              <a:ea typeface="Readex Pro Light"/>
              <a:cs typeface="Readex Pro Light"/>
            </a:endParaRPr>
          </a:p>
        </p:txBody>
      </p:sp>
      <p:sp>
        <p:nvSpPr>
          <p:cNvPr id="1096534166" name="Google Shape;509;p9"/>
          <p:cNvSpPr txBox="1"/>
          <p:nvPr>
            <p:ph type="body" idx="8"/>
          </p:nvPr>
        </p:nvSpPr>
        <p:spPr bwMode="auto">
          <a:xfrm>
            <a:off x="1409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1266669885" name="Google Shape;510;p9"/>
          <p:cNvSpPr txBox="1"/>
          <p:nvPr>
            <p:ph type="body" idx="9"/>
          </p:nvPr>
        </p:nvSpPr>
        <p:spPr bwMode="auto">
          <a:xfrm>
            <a:off x="1409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الخادم</a:t>
            </a:r>
            <a:endParaRPr/>
          </a:p>
        </p:txBody>
      </p:sp>
      <p:sp>
        <p:nvSpPr>
          <p:cNvPr id="500555435" name="Google Shape;511;p9"/>
          <p:cNvSpPr txBox="1"/>
          <p:nvPr>
            <p:ph type="body" idx="13"/>
          </p:nvPr>
        </p:nvSpPr>
        <p:spPr bwMode="auto">
          <a:xfrm>
            <a:off x="1409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‎.NET 9 بمعمارية نظيفة</a:t>
            </a:r>
            <a:endParaRPr>
              <a:latin typeface="Readex Pro Light"/>
              <a:ea typeface="Readex Pro Light"/>
              <a:cs typeface="Readex Pro Light"/>
            </a:endParaRPr>
          </a:p>
        </p:txBody>
      </p:sp>
      <p:sp>
        <p:nvSpPr>
          <p:cNvPr id="1035429239" name="Google Shape;512;p9"/>
          <p:cNvSpPr txBox="1"/>
          <p:nvPr>
            <p:ph type="body" idx="14"/>
          </p:nvPr>
        </p:nvSpPr>
        <p:spPr bwMode="auto">
          <a:xfrm>
            <a:off x="12077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613661916" name="Google Shape;513;p9"/>
          <p:cNvSpPr txBox="1"/>
          <p:nvPr>
            <p:ph type="body" idx="15"/>
          </p:nvPr>
        </p:nvSpPr>
        <p:spPr bwMode="auto">
          <a:xfrm>
            <a:off x="12077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قاعدة البيانات</a:t>
            </a:r>
            <a:endParaRPr/>
          </a:p>
        </p:txBody>
      </p:sp>
      <p:sp>
        <p:nvSpPr>
          <p:cNvPr id="1677486759" name="Google Shape;514;p9"/>
          <p:cNvSpPr txBox="1"/>
          <p:nvPr>
            <p:ph type="body" idx="16"/>
          </p:nvPr>
        </p:nvSpPr>
        <p:spPr bwMode="auto">
          <a:xfrm>
            <a:off x="12077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SQL Server وEF Core</a:t>
            </a:r>
            <a:endParaRPr>
              <a:latin typeface="Readex Pro Light"/>
              <a:ea typeface="Readex Pro Light"/>
              <a:cs typeface="Readex Pro Light"/>
            </a:endParaRPr>
          </a:p>
        </p:txBody>
      </p:sp>
      <p:sp>
        <p:nvSpPr>
          <p:cNvPr id="1257472413" name="Google Shape;515;p9"/>
          <p:cNvSpPr txBox="1"/>
          <p:nvPr>
            <p:ph type="body" idx="17"/>
          </p:nvPr>
        </p:nvSpPr>
        <p:spPr bwMode="auto">
          <a:xfrm>
            <a:off x="6743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232899838" name="Google Shape;516;p9"/>
          <p:cNvSpPr txBox="1"/>
          <p:nvPr>
            <p:ph type="body" idx="18"/>
          </p:nvPr>
        </p:nvSpPr>
        <p:spPr bwMode="auto">
          <a:xfrm>
            <a:off x="6743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الذكاء الاصطناعي</a:t>
            </a:r>
            <a:endParaRPr/>
          </a:p>
        </p:txBody>
      </p:sp>
      <p:sp>
        <p:nvSpPr>
          <p:cNvPr id="913567817" name="Google Shape;517;p9"/>
          <p:cNvSpPr txBox="1"/>
          <p:nvPr>
            <p:ph type="body" idx="19"/>
          </p:nvPr>
        </p:nvSpPr>
        <p:spPr bwMode="auto">
          <a:xfrm>
            <a:off x="6743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Semantic Kernel مع Together (وGemini احتياطاً)</a:t>
            </a:r>
            <a:endParaRPr>
              <a:latin typeface="Readex Pro Light"/>
              <a:ea typeface="Readex Pro Light"/>
              <a:cs typeface="Readex Pro Light"/>
            </a:endParaRPr>
          </a:p>
        </p:txBody>
      </p:sp>
      <p:sp>
        <p:nvSpPr>
          <p:cNvPr id="1939033759" name="Google Shape;518;p9"/>
          <p:cNvSpPr txBox="1"/>
          <p:nvPr>
            <p:ph type="body" idx="20"/>
          </p:nvPr>
        </p:nvSpPr>
        <p:spPr bwMode="auto">
          <a:xfrm>
            <a:off x="1409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06</a:t>
            </a:r>
            <a:endParaRPr/>
          </a:p>
        </p:txBody>
      </p:sp>
      <p:sp>
        <p:nvSpPr>
          <p:cNvPr id="1934347596" name="Google Shape;519;p9"/>
          <p:cNvSpPr txBox="1"/>
          <p:nvPr>
            <p:ph type="body" idx="21"/>
          </p:nvPr>
        </p:nvSpPr>
        <p:spPr bwMode="auto">
          <a:xfrm>
            <a:off x="1409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الجودة</a:t>
            </a:r>
            <a:endParaRPr/>
          </a:p>
        </p:txBody>
      </p:sp>
      <p:sp>
        <p:nvSpPr>
          <p:cNvPr id="1644133476" name="Google Shape;520;p9"/>
          <p:cNvSpPr txBox="1"/>
          <p:nvPr>
            <p:ph type="body" idx="22"/>
          </p:nvPr>
        </p:nvSpPr>
        <p:spPr bwMode="auto">
          <a:xfrm>
            <a:off x="1409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xUnit وPlaywright وفحص الإتاحة (axe)</a:t>
            </a:r>
            <a:endParaRPr>
              <a:latin typeface="Readex Pro Light"/>
              <a:ea typeface="Readex Pro Light"/>
              <a:cs typeface="Readex Pro Light"/>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598469462" name="Google Shape;637;p17"/>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363467631" name="Google Shape;638;p1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83541369" name="Google Shape;639;p1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القياس</a:t>
            </a:r>
            <a:endParaRPr/>
          </a:p>
        </p:txBody>
      </p:sp>
      <p:sp>
        <p:nvSpPr>
          <p:cNvPr id="1059764360" name="Google Shape;640;p1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كيف نقيس النجاح</a:t>
            </a:r>
            <a:endParaRPr/>
          </a:p>
        </p:txBody>
      </p:sp>
      <p:sp>
        <p:nvSpPr>
          <p:cNvPr id="534636792" name="Google Shape;641;p1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اكتمل وما هو قيد التنفيذ، بوضوح</a:t>
            </a:r>
            <a:endParaRPr/>
          </a:p>
        </p:txBody>
      </p:sp>
      <p:sp>
        <p:nvSpPr>
          <p:cNvPr id="1031654150" name="Google Shape;642;p1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graphicFrame>
        <p:nvGraphicFramePr>
          <p:cNvPr id="1603078463" name="Google Shape;643;p17"/>
          <p:cNvGraphicFramePr>
            <a:graphicFrameLocks xmlns:a="http://schemas.openxmlformats.org/drawingml/2006/main"/>
          </p:cNvGraphicFramePr>
          <p:nvPr/>
        </p:nvGraphicFramePr>
        <p:xfrm rot="0">
          <a:off x="1314450" y="3905250"/>
          <a:ext cx="3000000" cy="3000000"/>
        </p:xfrm>
        <a:graphic>
          <a:graphicData uri="http://schemas.openxmlformats.org/drawingml/2006/table">
            <a:tbl>
              <a:tblPr firstRow="0" firstCol="0" lastRow="0" lastCol="0" bandRow="0" bandCol="0">
                <a:tableStyleId>{B8ED9858-D163-4338-9E88-1F424354888F}</a:tableStyleId>
                <a:noFill/>
              </a:tblPr>
              <a:tblGrid>
                <a:gridCol w="2286000"/>
                <a:gridCol w="3238500"/>
                <a:gridCol w="6191250"/>
                <a:gridCol w="3714750"/>
              </a:tblGrid>
              <a:tr h="781050">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النتيجة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الحالة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طريقة القياس</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المؤشر</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الإعداد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التنفيذ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مقارنة بمجموعة مرجعية من أحكام أئمة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دقة قواعد فحص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10 من 10</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اختبارات آلية على منطق الخلاف وحالة الدليل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منطق عرض الخلاف وحالة الدليل (تصنيف البيانات قيد التنفيذ)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0 مخالفات</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فحص axe-core (WCAG 2.1 AA) لأربع صفحات رئيسية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الإتاحة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الإعداد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التنفيذ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 مع 3 إلى 5 مستخدمين (SEQ وSUS)</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سهولة الاستخدام</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bl>
          </a:graphicData>
        </a:graphic>
      </p:graphicFrame>
      <p:sp>
        <p:nvSpPr>
          <p:cNvPr id="339124134" name="Google Shape;644;p17"/>
          <p:cNvSpPr txBox="1"/>
          <p:nvPr>
            <p:ph type="body" idx="3"/>
          </p:nvPr>
        </p:nvSpPr>
        <p:spPr bwMode="auto">
          <a:xfrm>
            <a:off x="1409700" y="8810625"/>
            <a:ext cx="15430500" cy="457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الأرقام المعروضة نتائج فعلية، وكل بند «قيد التنفيذ» لم تصدر نتيجته بعد</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216399600" name="Google Shape;650;p18"/>
          <p:cNvPicPr/>
          <p:nvPr/>
        </p:nvPicPr>
        <p:blipFill rotWithShape="1">
          <a:blip r:embed="rId3">
            <a:alphaModFix/>
          </a:blip>
          <a:srcRect l="0" t="0" r="0" b="0"/>
          <a:stretch/>
        </p:blipFill>
        <p:spPr bwMode="auto">
          <a:xfrm>
            <a:off x="-19050" y="0"/>
            <a:ext cx="18288000" cy="10287000"/>
          </a:xfrm>
          <a:prstGeom prst="rect">
            <a:avLst/>
          </a:prstGeom>
          <a:noFill/>
          <a:ln>
            <a:noFill/>
          </a:ln>
        </p:spPr>
      </p:pic>
      <p:sp>
        <p:nvSpPr>
          <p:cNvPr id="1696648806" name="Google Shape;651;p1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957703964" name="Google Shape;652;p1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الاستمرار</a:t>
            </a:r>
            <a:endParaRPr/>
          </a:p>
        </p:txBody>
      </p:sp>
      <p:sp>
        <p:nvSpPr>
          <p:cNvPr id="1782563264" name="Google Shape;653;p1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خطة الاستمرار</a:t>
            </a:r>
            <a:endParaRPr/>
          </a:p>
        </p:txBody>
      </p:sp>
      <p:sp>
        <p:nvSpPr>
          <p:cNvPr id="1654528509" name="Google Shape;654;p1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الأولويات بعد التسليم</a:t>
            </a:r>
            <a:endParaRPr/>
          </a:p>
        </p:txBody>
      </p:sp>
      <p:sp>
        <p:nvSpPr>
          <p:cNvPr id="523372842" name="Google Shape;655;p18"/>
          <p:cNvSpPr txBox="1"/>
          <p:nvPr>
            <p:ph type="body" idx="3"/>
          </p:nvPr>
        </p:nvSpPr>
        <p:spPr bwMode="auto">
          <a:xfrm>
            <a:off x="13982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241200906" name="Google Shape;656;p18"/>
          <p:cNvSpPr txBox="1"/>
          <p:nvPr>
            <p:ph type="body" idx="4"/>
          </p:nvPr>
        </p:nvSpPr>
        <p:spPr bwMode="auto">
          <a:xfrm>
            <a:off x="13982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التسليم</a:t>
            </a:r>
            <a:endParaRPr/>
          </a:p>
        </p:txBody>
      </p:sp>
      <p:sp>
        <p:nvSpPr>
          <p:cNvPr id="685965077" name="Google Shape;657;p18"/>
          <p:cNvSpPr txBox="1"/>
          <p:nvPr>
            <p:ph type="body" idx="5"/>
          </p:nvPr>
        </p:nvSpPr>
        <p:spPr bwMode="auto">
          <a:xfrm>
            <a:off x="13982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6 أكتوبر 2026</a:t>
            </a:r>
            <a:endParaRPr/>
          </a:p>
        </p:txBody>
      </p:sp>
      <p:sp>
        <p:nvSpPr>
          <p:cNvPr id="356587972" name="Google Shape;658;p18"/>
          <p:cNvSpPr txBox="1"/>
          <p:nvPr>
            <p:ph type="body" idx="6"/>
          </p:nvPr>
        </p:nvSpPr>
        <p:spPr bwMode="auto">
          <a:xfrm>
            <a:off x="13982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حل يعمل، ورابط حي، ومستودع عام</a:t>
            </a:r>
            <a:endParaRPr/>
          </a:p>
        </p:txBody>
      </p:sp>
      <p:sp>
        <p:nvSpPr>
          <p:cNvPr id="121204354" name="Google Shape;659;p18"/>
          <p:cNvSpPr txBox="1"/>
          <p:nvPr>
            <p:ph type="body" idx="7"/>
          </p:nvPr>
        </p:nvSpPr>
        <p:spPr bwMode="auto">
          <a:xfrm>
            <a:off x="108394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221781027" name="Google Shape;660;p18"/>
          <p:cNvSpPr txBox="1"/>
          <p:nvPr>
            <p:ph type="body" idx="8"/>
          </p:nvPr>
        </p:nvSpPr>
        <p:spPr bwMode="auto">
          <a:xfrm>
            <a:off x="108394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قياس الدقة</a:t>
            </a:r>
            <a:endParaRPr/>
          </a:p>
        </p:txBody>
      </p:sp>
      <p:sp>
        <p:nvSpPr>
          <p:cNvPr id="660406270" name="Google Shape;661;p18"/>
          <p:cNvSpPr txBox="1"/>
          <p:nvPr>
            <p:ph type="body" idx="9"/>
          </p:nvPr>
        </p:nvSpPr>
        <p:spPr bwMode="auto">
          <a:xfrm>
            <a:off x="108394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766225862" name="Google Shape;662;p18"/>
          <p:cNvSpPr txBox="1"/>
          <p:nvPr>
            <p:ph type="body" idx="13"/>
          </p:nvPr>
        </p:nvSpPr>
        <p:spPr bwMode="auto">
          <a:xfrm>
            <a:off x="108394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مجموعة مرجعية لقياس قواعد العلل</a:t>
            </a:r>
            <a:endParaRPr/>
          </a:p>
        </p:txBody>
      </p:sp>
      <p:sp>
        <p:nvSpPr>
          <p:cNvPr id="626301092" name="Google Shape;663;p18"/>
          <p:cNvSpPr txBox="1"/>
          <p:nvPr>
            <p:ph type="body" idx="14"/>
          </p:nvPr>
        </p:nvSpPr>
        <p:spPr bwMode="auto">
          <a:xfrm>
            <a:off x="76962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1994365607" name="Google Shape;664;p18"/>
          <p:cNvSpPr txBox="1"/>
          <p:nvPr>
            <p:ph type="body" idx="15"/>
          </p:nvPr>
        </p:nvSpPr>
        <p:spPr bwMode="auto">
          <a:xfrm>
            <a:off x="76962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الاختبار</a:t>
            </a:r>
            <a:endParaRPr/>
          </a:p>
        </p:txBody>
      </p:sp>
      <p:sp>
        <p:nvSpPr>
          <p:cNvPr id="1611468678" name="Google Shape;665;p18"/>
          <p:cNvSpPr txBox="1"/>
          <p:nvPr>
            <p:ph type="body" idx="16"/>
          </p:nvPr>
        </p:nvSpPr>
        <p:spPr bwMode="auto">
          <a:xfrm>
            <a:off x="76962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340873423" name="Google Shape;666;p18"/>
          <p:cNvSpPr txBox="1"/>
          <p:nvPr>
            <p:ph type="body" idx="17"/>
          </p:nvPr>
        </p:nvSpPr>
        <p:spPr bwMode="auto">
          <a:xfrm>
            <a:off x="76962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اختبار مستخدمين وتحسينات موثقة</a:t>
            </a:r>
            <a:endParaRPr/>
          </a:p>
        </p:txBody>
      </p:sp>
      <p:sp>
        <p:nvSpPr>
          <p:cNvPr id="790539137" name="Google Shape;667;p18"/>
          <p:cNvSpPr txBox="1"/>
          <p:nvPr>
            <p:ph type="body" idx="18"/>
          </p:nvPr>
        </p:nvSpPr>
        <p:spPr bwMode="auto">
          <a:xfrm>
            <a:off x="45529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1980100989" name="Google Shape;668;p18"/>
          <p:cNvSpPr txBox="1"/>
          <p:nvPr>
            <p:ph type="body" idx="19"/>
          </p:nvPr>
        </p:nvSpPr>
        <p:spPr bwMode="auto">
          <a:xfrm>
            <a:off x="45529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الإتاحة</a:t>
            </a:r>
            <a:endParaRPr/>
          </a:p>
        </p:txBody>
      </p:sp>
      <p:sp>
        <p:nvSpPr>
          <p:cNvPr id="702652813" name="Google Shape;669;p18"/>
          <p:cNvSpPr txBox="1"/>
          <p:nvPr>
            <p:ph type="body" idx="20"/>
          </p:nvPr>
        </p:nvSpPr>
        <p:spPr bwMode="auto">
          <a:xfrm>
            <a:off x="45529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806735459" name="Google Shape;670;p18"/>
          <p:cNvSpPr txBox="1"/>
          <p:nvPr>
            <p:ph type="body" idx="21"/>
          </p:nvPr>
        </p:nvSpPr>
        <p:spPr bwMode="auto">
          <a:xfrm>
            <a:off x="45529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بديل نصي لرسم الشجرة لقارئات الشاشة</a:t>
            </a:r>
            <a:endParaRPr/>
          </a:p>
        </p:txBody>
      </p:sp>
      <p:sp>
        <p:nvSpPr>
          <p:cNvPr id="1850453048" name="Google Shape;671;p18"/>
          <p:cNvSpPr txBox="1"/>
          <p:nvPr>
            <p:ph type="body" idx="22"/>
          </p:nvPr>
        </p:nvSpPr>
        <p:spPr bwMode="auto">
          <a:xfrm>
            <a:off x="1409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1557567648" name="Google Shape;672;p18"/>
          <p:cNvSpPr txBox="1"/>
          <p:nvPr>
            <p:ph type="body" idx="23"/>
          </p:nvPr>
        </p:nvSpPr>
        <p:spPr bwMode="auto">
          <a:xfrm>
            <a:off x="1409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المراجعة</a:t>
            </a:r>
            <a:endParaRPr/>
          </a:p>
        </p:txBody>
      </p:sp>
      <p:sp>
        <p:nvSpPr>
          <p:cNvPr id="1465097975" name="Google Shape;673;p18"/>
          <p:cNvSpPr txBox="1"/>
          <p:nvPr>
            <p:ph type="body" idx="24"/>
          </p:nvPr>
        </p:nvSpPr>
        <p:spPr bwMode="auto">
          <a:xfrm>
            <a:off x="1409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915066289" name="Google Shape;674;p18"/>
          <p:cNvSpPr txBox="1"/>
          <p:nvPr>
            <p:ph type="body" idx="25"/>
          </p:nvPr>
        </p:nvSpPr>
        <p:spPr bwMode="auto">
          <a:xfrm>
            <a:off x="1409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مراجعة شرعية للمصطلحات والحالات</a:t>
            </a:r>
            <a:endParaRPr/>
          </a:p>
        </p:txBody>
      </p:sp>
      <p:cxnSp>
        <p:nvCxnSpPr>
          <p:cNvPr id="427652946" name="Google Shape;675;p18"/>
          <p:cNvCxnSpPr/>
          <p:nvPr/>
        </p:nvCxnSpPr>
        <p:spPr bwMode="auto">
          <a:xfrm rot="10800000">
            <a:off x="13992300" y="4708975"/>
            <a:ext cx="2838300" cy="0"/>
          </a:xfrm>
          <a:prstGeom prst="straightConnector1">
            <a:avLst/>
          </a:prstGeom>
          <a:noFill/>
          <a:ln w="76200" cap="flat" cmpd="sng">
            <a:solidFill>
              <a:srgbClr val="6150EA"/>
            </a:solidFill>
            <a:prstDash val="solid"/>
            <a:round/>
            <a:headEnd type="none" w="med" len="med"/>
            <a:tailEnd type="none" w="med" len="med"/>
          </a:ln>
        </p:spPr>
      </p:cxnSp>
      <p:pic>
        <p:nvPicPr>
          <p:cNvPr id="1230578030" name="Google Shape;676;p18"/>
          <p:cNvPicPr/>
          <p:nvPr/>
        </p:nvPicPr>
        <p:blipFill rotWithShape="1">
          <a:blip r:embed="rId4">
            <a:alphaModFix/>
          </a:blip>
          <a:srcRect l="0" t="0" r="0" b="0"/>
          <a:stretch/>
        </p:blipFill>
        <p:spPr bwMode="auto">
          <a:xfrm>
            <a:off x="1066800" y="693967"/>
            <a:ext cx="3429002" cy="879015"/>
          </a:xfrm>
          <a:prstGeom prst="rect">
            <a:avLst/>
          </a:prstGeom>
          <a:noFill/>
          <a:ln>
            <a:noFill/>
          </a:ln>
        </p:spPr>
      </p:pic>
      <p:cxnSp>
        <p:nvCxnSpPr>
          <p:cNvPr id="1910029411" name="Google Shape;677;p18"/>
          <p:cNvCxnSpPr/>
          <p:nvPr/>
        </p:nvCxnSpPr>
        <p:spPr bwMode="auto">
          <a:xfrm rot="10800000">
            <a:off x="108300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206749533" name="Google Shape;678;p18"/>
          <p:cNvCxnSpPr/>
          <p:nvPr/>
        </p:nvCxnSpPr>
        <p:spPr bwMode="auto">
          <a:xfrm rot="10800000">
            <a:off x="76677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421371955" name="Google Shape;679;p18"/>
          <p:cNvCxnSpPr/>
          <p:nvPr/>
        </p:nvCxnSpPr>
        <p:spPr bwMode="auto">
          <a:xfrm rot="10800000">
            <a:off x="45054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677315639" name="Google Shape;680;p18"/>
          <p:cNvCxnSpPr/>
          <p:nvPr/>
        </p:nvCxnSpPr>
        <p:spPr bwMode="auto">
          <a:xfrm rot="10800000">
            <a:off x="1343099" y="4708975"/>
            <a:ext cx="2838300" cy="0"/>
          </a:xfrm>
          <a:prstGeom prst="straightConnector1">
            <a:avLst/>
          </a:prstGeom>
          <a:noFill/>
          <a:ln w="76200" cap="flat" cmpd="sng">
            <a:solidFill>
              <a:srgbClr val="6150EA"/>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707110471" name="Google Shape;881;p28"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598106079" name="Google Shape;882;p28"/>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433859501" name="Google Shape;883;p2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القيمة المضافة</a:t>
            </a:r>
            <a:endParaRPr/>
          </a:p>
        </p:txBody>
      </p:sp>
      <p:sp>
        <p:nvSpPr>
          <p:cNvPr id="716934585" name="Google Shape;884;p2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مقارنة مع المراجع القائمة</a:t>
            </a:r>
            <a:endParaRPr/>
          </a:p>
        </p:txBody>
      </p:sp>
      <p:sp>
        <p:nvSpPr>
          <p:cNvPr id="1366333108" name="Google Shape;885;p2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نكمّل المراجع ولا نستبدلها</a:t>
            </a:r>
            <a:endParaRPr/>
          </a:p>
        </p:txBody>
      </p:sp>
      <p:sp>
        <p:nvSpPr>
          <p:cNvPr id="1163352176" name="Google Shape;886;p2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706899319" name="Google Shape;887;p28"/>
          <p:cNvSpPr txBox="1"/>
          <p:nvPr>
            <p:ph type="body" idx="3"/>
          </p:nvPr>
        </p:nvSpPr>
        <p:spPr bwMode="auto">
          <a:xfrm>
            <a:off x="969645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المكتبة الشاملة والدرر السنية</a:t>
            </a:r>
            <a:endParaRPr/>
          </a:p>
        </p:txBody>
      </p:sp>
      <p:sp>
        <p:nvSpPr>
          <p:cNvPr id="1718097690" name="Google Shape;888;p28"/>
          <p:cNvSpPr txBox="1"/>
          <p:nvPr>
            <p:ph type="body" idx="4"/>
          </p:nvPr>
        </p:nvSpPr>
        <p:spPr bwMode="auto">
          <a:xfrm>
            <a:off x="969645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مراجع للنصوص والأحكام المعتمدة</a:t>
            </a:r>
            <a:endParaRPr/>
          </a:p>
        </p:txBody>
      </p:sp>
      <p:sp>
        <p:nvSpPr>
          <p:cNvPr id="1306552933" name="Google Shape;889;p28"/>
          <p:cNvSpPr txBox="1"/>
          <p:nvPr>
            <p:ph type="body" idx="5"/>
          </p:nvPr>
        </p:nvSpPr>
        <p:spPr bwMode="auto">
          <a:xfrm>
            <a:off x="140970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الأسانيد الذكية</a:t>
            </a:r>
            <a:endParaRPr/>
          </a:p>
        </p:txBody>
      </p:sp>
      <p:sp>
        <p:nvSpPr>
          <p:cNvPr id="1226435756" name="Google Shape;890;p28"/>
          <p:cNvSpPr txBox="1"/>
          <p:nvPr>
            <p:ph type="body" idx="6"/>
          </p:nvPr>
        </p:nvSpPr>
        <p:spPr bwMode="auto">
          <a:xfrm>
            <a:off x="140970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الإسناد وفحصه</a:t>
            </a:r>
            <a:endParaRPr/>
          </a:p>
        </p:txBody>
      </p:sp>
      <p:sp>
        <p:nvSpPr>
          <p:cNvPr id="1069126043" name="Google Shape;891;p28"/>
          <p:cNvSpPr txBox="1"/>
          <p:nvPr>
            <p:ph type="body" idx="7"/>
          </p:nvPr>
        </p:nvSpPr>
        <p:spPr bwMode="auto">
          <a:xfrm>
            <a:off x="969645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نصوص كاملة وأحكام مرجعية موثوقة</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السند يُقرأ نصاً، وجمع الطرق ومقارنتها جهد يدوي</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الرجوع إلى النص والحكم المعتمد</a:t>
            </a:r>
            <a:endParaRPr/>
          </a:p>
        </p:txBody>
      </p:sp>
      <p:sp>
        <p:nvSpPr>
          <p:cNvPr id="1344696567" name="Google Shape;892;p28"/>
          <p:cNvSpPr txBox="1"/>
          <p:nvPr>
            <p:ph type="body" idx="8"/>
          </p:nvPr>
        </p:nvSpPr>
        <p:spPr bwMode="auto">
          <a:xfrm>
            <a:off x="140970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رسم الأسانيد عبر كتب الحديث وفحص العلل</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لا تُصدر حكماً ولا تغني عن المصادر</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التحقق الأولي ومقارنة الطرق قبل الرجوع للحكم</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685420847"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الفريق</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فريق العمل</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المسار 04 · أدوات المعرفة والتحقق</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950496551" name="Google Shape;693;p19"/>
          <p:cNvSpPr txBox="1"/>
          <p:nvPr>
            <p:ph type="body" idx="4"/>
          </p:nvPr>
        </p:nvSpPr>
        <p:spPr bwMode="auto">
          <a:xfrm>
            <a:off x="4572000" y="6892290"/>
            <a:ext cx="9144000" cy="619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Abdelrahman Alaa Mohamed</a:t>
            </a:r>
            <a:endParaRPr/>
          </a:p>
        </p:txBody>
      </p:sp>
      <p:sp>
        <p:nvSpPr>
          <p:cNvPr id="70496847" name="Google Shape;694;p19"/>
          <p:cNvSpPr txBox="1"/>
          <p:nvPr>
            <p:ph type="body" idx="5"/>
          </p:nvPr>
        </p:nvSpPr>
        <p:spPr bwMode="auto">
          <a:xfrm>
            <a:off x="3657600" y="7663815"/>
            <a:ext cx="10972800" cy="51435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قائد الفريق ومطوّر المشروع كاملاً</a:t>
            </a:r>
            <a:endParaRPr/>
          </a:p>
        </p:txBody>
      </p:sp>
      <p:sp>
        <p:nvSpPr>
          <p:cNvPr id="1538261648" name="Google Shape;697;p19"/>
          <p:cNvSpPr txBox="1"/>
          <p:nvPr>
            <p:ph type="body" idx="8"/>
          </p:nvPr>
        </p:nvSpPr>
        <p:spPr bwMode="auto">
          <a:xfrm>
            <a:off x="1188720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الذكاء الاصطناعي وقواعد العلل</a:t>
            </a:r>
            <a:endParaRPr/>
          </a:p>
        </p:txBody>
      </p:sp>
      <p:sp>
        <p:nvSpPr>
          <p:cNvPr id="1287218123" name="Google Shape;700;p19"/>
          <p:cNvSpPr txBox="1"/>
          <p:nvPr>
            <p:ph type="body" idx="14"/>
          </p:nvPr>
        </p:nvSpPr>
        <p:spPr bwMode="auto">
          <a:xfrm>
            <a:off x="676656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الواجهات والخادم والبيانات</a:t>
            </a:r>
            <a:endParaRPr/>
          </a:p>
        </p:txBody>
      </p:sp>
      <p:sp>
        <p:nvSpPr>
          <p:cNvPr id="855176475" name="Google Shape;703;p19"/>
          <p:cNvSpPr txBox="1"/>
          <p:nvPr>
            <p:ph type="body" idx="17"/>
          </p:nvPr>
        </p:nvSpPr>
        <p:spPr bwMode="auto">
          <a:xfrm>
            <a:off x="164592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تجربة المستخدم والاختبار</a:t>
            </a:r>
            <a:endParaRPr/>
          </a:p>
        </p:txBody>
      </p:sp>
      <p:pic>
        <p:nvPicPr>
          <p:cNvPr id="1950496552" name="Picture 1950496551" descr="portrait_circle.png"/>
          <p:cNvPicPr>
            <a:picLocks noChangeAspect="1"/>
          </p:cNvPicPr>
          <p:nvPr/>
        </p:nvPicPr>
        <p:blipFill>
          <a:blip r:embed="rId6"/>
          <a:stretch>
            <a:fillRect/>
          </a:stretch>
        </p:blipFill>
        <p:spPr>
          <a:xfrm>
            <a:off x="7600950" y="3703320"/>
            <a:ext cx="3086100" cy="3086100"/>
          </a:xfrm>
          <a:prstGeom prst="rect">
            <a:avLst/>
          </a:prstGeom>
        </p:spPr>
      </p:pic>
      <p:sp>
        <p:nvSpPr>
          <p:cNvPr id="1950496553" name="TextBox 1950496552"/>
          <p:cNvSpPr txBox="1"/>
          <p:nvPr/>
        </p:nvSpPr>
        <p:spPr>
          <a:xfrm>
            <a:off x="3657600" y="9103995"/>
            <a:ext cx="10972800" cy="411480"/>
          </a:xfrm>
          <a:prstGeom prst="rect">
            <a:avLst/>
          </a:prstGeom>
          <a:noFill/>
        </p:spPr>
        <p:txBody>
          <a:bodyPr wrap="square">
            <a:spAutoFit/>
          </a:bodyPr>
          <a:lstStyle/>
          <a:p>
            <a:pPr rtl="1" algn="ctr"/>
            <a:r>
              <a:rPr sz="2000">
                <a:solidFill>
                  <a:srgbClr val="12183F"/>
                </a:solidFill>
              </a:rPr>
              <a:t>المراجعة الشرعية للمصطلحات والحالات: مخطَّطة بعد التسليم</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352535244" name="Google Shape;914;p31" title="خلفية هكثون3.png"/>
          <p:cNvPicPr/>
          <p:nvPr/>
        </p:nvPicPr>
        <p:blipFill rotWithShape="1">
          <a:blip r:embed="rId3">
            <a:alphaModFix/>
          </a:blip>
          <a:stretch/>
        </p:blipFill>
        <p:spPr bwMode="auto">
          <a:xfrm>
            <a:off x="0" y="0"/>
            <a:ext cx="18288000" cy="10287000"/>
          </a:xfrm>
          <a:prstGeom prst="rect">
            <a:avLst/>
          </a:prstGeom>
          <a:noFill/>
          <a:ln>
            <a:noFill/>
          </a:ln>
        </p:spPr>
      </p:pic>
      <p:sp>
        <p:nvSpPr>
          <p:cNvPr id="498906782" name="Google Shape;915;p31"/>
          <p:cNvSpPr txBox="1"/>
          <p:nvPr>
            <p:ph type="body" idx="1"/>
          </p:nvPr>
        </p:nvSpPr>
        <p:spPr bwMode="auto">
          <a:xfrm>
            <a:off x="3810000" y="5676900"/>
            <a:ext cx="106680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0">
                <a:solidFill>
                  <a:srgbClr val="F2F4FF"/>
                </a:solidFill>
                <a:latin typeface="Readex Pro"/>
                <a:ea typeface="Readex Pro"/>
                <a:cs typeface="Readex Pro"/>
              </a:rPr>
              <a:t>شجرة الأسانيد الذكية · الرابط الحي: smart-hadith.idealisticsolutions.com</a:t>
            </a:r>
            <a:endParaRPr/>
          </a:p>
        </p:txBody>
      </p:sp>
      <p:sp>
        <p:nvSpPr>
          <p:cNvPr id="75623384" name="Google Shape;916;p31"/>
          <p:cNvSpPr txBox="1"/>
          <p:nvPr>
            <p:ph type="body" idx="2"/>
          </p:nvPr>
        </p:nvSpPr>
        <p:spPr bwMode="auto">
          <a:xfrm>
            <a:off x="3810000" y="6653200"/>
            <a:ext cx="10668000" cy="666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CBCFE6"/>
                </a:solidFill>
                <a:latin typeface="Readex Pro"/>
                <a:ea typeface="Readex Pro"/>
                <a:cs typeface="Readex Pro"/>
              </a:rPr>
              <a:t>github.com/Abdelrahman984/smart-hadith-tree-web-public</a:t>
            </a:r>
            <a:endParaRPr/>
          </a:p>
        </p:txBody>
      </p:sp>
      <p:sp>
        <p:nvSpPr>
          <p:cNvPr id="2000648776" name="Google Shape;917;p31"/>
          <p:cNvSpPr txBox="1"/>
          <p:nvPr>
            <p:ph type="title"/>
          </p:nvPr>
        </p:nvSpPr>
        <p:spPr bwMode="auto">
          <a:xfrm>
            <a:off x="3810000" y="3819525"/>
            <a:ext cx="10668000" cy="1428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200"/>
              <a:buNone/>
              <a:defRPr/>
            </a:pPr>
            <a:r>
              <a:rPr lang="ar-SA" sz="7200" b="1">
                <a:solidFill>
                  <a:srgbClr val="2EF2C2"/>
                </a:solidFill>
                <a:latin typeface="Readex Pro"/>
                <a:ea typeface="Readex Pro"/>
                <a:cs typeface="Readex Pro"/>
              </a:rPr>
              <a:t>شكراً لكم</a:t>
            </a:r>
            <a:endParaRPr/>
          </a:p>
        </p:txBody>
      </p:sp>
      <p:pic>
        <p:nvPicPr>
          <p:cNvPr id="69413673" name="Google Shape;918;p31" title="شعار الهاكثون لايت.png"/>
          <p:cNvPicPr/>
          <p:nvPr/>
        </p:nvPicPr>
        <p:blipFill rotWithShape="1">
          <a:blip r:embed="rId4">
            <a:alphaModFix/>
          </a:blip>
          <a:stretch/>
        </p:blipFill>
        <p:spPr bwMode="auto">
          <a:xfrm>
            <a:off x="3158450" y="1277075"/>
            <a:ext cx="6546002" cy="1678025"/>
          </a:xfrm>
          <a:prstGeom prst="rect">
            <a:avLst/>
          </a:prstGeom>
          <a:noFill/>
          <a:ln>
            <a:noFill/>
          </a:ln>
        </p:spPr>
      </p:pic>
      <p:pic>
        <p:nvPicPr>
          <p:cNvPr id="1660851714" name="Google Shape;919;p31"/>
          <p:cNvPicPr/>
          <p:nvPr/>
        </p:nvPicPr>
        <p:blipFill rotWithShape="1">
          <a:blip r:embed="rId5">
            <a:alphaModFix/>
          </a:blip>
          <a:srcRect l="0" t="0" r="0" b="0"/>
          <a:stretch/>
        </p:blipFill>
        <p:spPr bwMode="auto">
          <a:xfrm>
            <a:off x="13237879" y="1460433"/>
            <a:ext cx="1891696" cy="1195990"/>
          </a:xfrm>
          <a:prstGeom prst="rect">
            <a:avLst/>
          </a:prstGeom>
          <a:noFill/>
          <a:ln>
            <a:noFill/>
          </a:ln>
        </p:spPr>
      </p:pic>
      <p:pic>
        <p:nvPicPr>
          <p:cNvPr id="139244695" name="Google Shape;920;p31" title="شعار عام الذكاء الاصطناعي.png"/>
          <p:cNvPicPr/>
          <p:nvPr/>
        </p:nvPicPr>
        <p:blipFill rotWithShape="1">
          <a:blip r:embed="rId6">
            <a:alphaModFix/>
          </a:blip>
          <a:stretch/>
        </p:blipFill>
        <p:spPr bwMode="auto">
          <a:xfrm>
            <a:off x="10056994" y="1261812"/>
            <a:ext cx="2908672" cy="1708549"/>
          </a:xfrm>
          <a:prstGeom prst="rect">
            <a:avLst/>
          </a:prstGeom>
          <a:noFill/>
          <a:ln>
            <a:noFill/>
          </a:ln>
        </p:spPr>
      </p:pic>
      <p:pic>
        <p:nvPicPr>
          <p:cNvPr id="480022100" name="Google Shape;921;p31" title="شعار سدايا.png"/>
          <p:cNvPicPr/>
          <p:nvPr/>
        </p:nvPicPr>
        <p:blipFill rotWithShape="1">
          <a:blip r:embed="rId7">
            <a:alphaModFix/>
          </a:blip>
          <a:stretch/>
        </p:blipFill>
        <p:spPr bwMode="auto">
          <a:xfrm>
            <a:off x="7750489" y="7716733"/>
            <a:ext cx="2292680" cy="1346725"/>
          </a:xfrm>
          <a:prstGeom prst="rect">
            <a:avLst/>
          </a:prstGeom>
          <a:noFill/>
          <a:ln>
            <a:noFill/>
          </a:ln>
        </p:spPr>
      </p:pic>
      <p:pic>
        <p:nvPicPr>
          <p:cNvPr id="1267544621" name="Google Shape;922;p31" title="شعار فيوتشر.png"/>
          <p:cNvPicPr/>
          <p:nvPr/>
        </p:nvPicPr>
        <p:blipFill rotWithShape="1">
          <a:blip r:embed="rId8">
            <a:alphaModFix/>
          </a:blip>
          <a:stretch/>
        </p:blipFill>
        <p:spPr bwMode="auto">
          <a:xfrm>
            <a:off x="3179331" y="7929122"/>
            <a:ext cx="1570852" cy="921955"/>
          </a:xfrm>
          <a:prstGeom prst="rect">
            <a:avLst/>
          </a:prstGeom>
          <a:noFill/>
          <a:ln>
            <a:noFill/>
          </a:ln>
        </p:spPr>
      </p:pic>
      <p:pic>
        <p:nvPicPr>
          <p:cNvPr id="1330557453" name="Google Shape;923;p31" title="شعار التحول.png"/>
          <p:cNvPicPr/>
          <p:nvPr/>
        </p:nvPicPr>
        <p:blipFill rotWithShape="1">
          <a:blip r:embed="rId9">
            <a:alphaModFix/>
          </a:blip>
          <a:stretch/>
        </p:blipFill>
        <p:spPr bwMode="auto">
          <a:xfrm>
            <a:off x="5373933" y="7875719"/>
            <a:ext cx="1752806" cy="1028753"/>
          </a:xfrm>
          <a:prstGeom prst="rect">
            <a:avLst/>
          </a:prstGeom>
          <a:noFill/>
          <a:ln>
            <a:noFill/>
          </a:ln>
        </p:spPr>
      </p:pic>
      <p:sp>
        <p:nvSpPr>
          <p:cNvPr id="649436410" name="Google Shape;924;p31"/>
          <p:cNvSpPr txBox="1"/>
          <p:nvPr/>
        </p:nvSpPr>
        <p:spPr bwMode="auto">
          <a:xfrm>
            <a:off x="14046674" y="8254733"/>
            <a:ext cx="1062000" cy="295800"/>
          </a:xfrm>
          <a:prstGeom prst="rect">
            <a:avLst/>
          </a:prstGeom>
          <a:noFill/>
          <a:ln>
            <a:noFill/>
          </a:ln>
        </p:spPr>
        <p:txBody>
          <a:bodyPr spcFirstLastPara="1" wrap="square" lIns="0" tIns="0" rIns="0" bIns="0" anchor="t" anchorCtr="0">
            <a:noAutofit/>
          </a:bodyPr>
          <a:lstStyle/>
          <a:p>
            <a:pPr marL="0" lvl="0" indent="0" algn="r" rtl="1">
              <a:spcBef>
                <a:spcPts val="0"/>
              </a:spcBef>
              <a:spcAft>
                <a:spcPts val="0"/>
              </a:spcAft>
              <a:buNone/>
              <a:defRPr/>
            </a:pPr>
            <a:r>
              <a:rPr lang="ar-SA" sz="1800">
                <a:solidFill>
                  <a:srgbClr val="2EF2C2"/>
                </a:solidFill>
                <a:latin typeface="Readex Pro"/>
                <a:ea typeface="Readex Pro"/>
                <a:cs typeface="Readex Pro"/>
              </a:rPr>
              <a:t>شركاؤنا</a:t>
            </a:r>
            <a:r>
              <a:rPr lang="ar-SA">
                <a:solidFill>
                  <a:srgbClr val="2EF2C2"/>
                </a:solidFill>
                <a:latin typeface="Readex Pro"/>
                <a:ea typeface="Readex Pro"/>
                <a:cs typeface="Readex Pro"/>
              </a:rPr>
              <a:t>:</a:t>
            </a:r>
            <a:endParaRPr sz="1800">
              <a:solidFill>
                <a:srgbClr val="2EF2C2"/>
              </a:solidFill>
              <a:latin typeface="Readex Pro"/>
              <a:ea typeface="Readex Pro"/>
              <a:cs typeface="Readex Pro"/>
            </a:endParaRPr>
          </a:p>
        </p:txBody>
      </p:sp>
      <p:cxnSp>
        <p:nvCxnSpPr>
          <p:cNvPr id="580126342" name="Google Shape;925;p31"/>
          <p:cNvCxnSpPr/>
          <p:nvPr/>
        </p:nvCxnSpPr>
        <p:spPr bwMode="auto">
          <a:xfrm>
            <a:off x="7456246" y="8142400"/>
            <a:ext cx="0" cy="453600"/>
          </a:xfrm>
          <a:prstGeom prst="straightConnector1">
            <a:avLst/>
          </a:prstGeom>
          <a:noFill/>
          <a:ln w="9525" cap="flat" cmpd="sng">
            <a:solidFill>
              <a:srgbClr val="2EF2C2"/>
            </a:solidFill>
            <a:prstDash val="solid"/>
            <a:round/>
            <a:headEnd type="none" w="med" len="med"/>
            <a:tailEnd type="none" w="med" len="med"/>
          </a:ln>
        </p:spPr>
      </p:cxnSp>
      <p:cxnSp>
        <p:nvCxnSpPr>
          <p:cNvPr id="604180642" name="Google Shape;926;p31"/>
          <p:cNvCxnSpPr/>
          <p:nvPr/>
        </p:nvCxnSpPr>
        <p:spPr bwMode="auto">
          <a:xfrm>
            <a:off x="5075007" y="8142400"/>
            <a:ext cx="0" cy="453600"/>
          </a:xfrm>
          <a:prstGeom prst="straightConnector1">
            <a:avLst/>
          </a:prstGeom>
          <a:noFill/>
          <a:ln w="9525" cap="flat" cmpd="sng">
            <a:solidFill>
              <a:srgbClr val="2EF2C2"/>
            </a:solidFill>
            <a:prstDash val="solid"/>
            <a:round/>
            <a:headEnd type="none" w="med" len="med"/>
            <a:tailEnd type="none" w="med" len="med"/>
          </a:ln>
        </p:spPr>
      </p:cxnSp>
      <p:pic>
        <p:nvPicPr>
          <p:cNvPr id="1894970672" name="Google Shape;927;p31" title="شعار وزارة الاتصالات.png"/>
          <p:cNvPicPr/>
          <p:nvPr/>
        </p:nvPicPr>
        <p:blipFill rotWithShape="1">
          <a:blip r:embed="rId10">
            <a:alphaModFix/>
          </a:blip>
          <a:stretch/>
        </p:blipFill>
        <p:spPr bwMode="auto">
          <a:xfrm>
            <a:off x="10602750" y="7979050"/>
            <a:ext cx="3035650" cy="847150"/>
          </a:xfrm>
          <a:prstGeom prst="rect">
            <a:avLst/>
          </a:prstGeom>
          <a:noFill/>
          <a:ln>
            <a:noFill/>
          </a:ln>
        </p:spPr>
      </p:pic>
      <p:cxnSp>
        <p:nvCxnSpPr>
          <p:cNvPr id="93398944" name="Google Shape;928;p31"/>
          <p:cNvCxnSpPr/>
          <p:nvPr/>
        </p:nvCxnSpPr>
        <p:spPr bwMode="auto">
          <a:xfrm>
            <a:off x="10366904" y="8142400"/>
            <a:ext cx="0" cy="453600"/>
          </a:xfrm>
          <a:prstGeom prst="straightConnector1">
            <a:avLst/>
          </a:prstGeom>
          <a:noFill/>
          <a:ln w="9525" cap="flat" cmpd="sng">
            <a:solidFill>
              <a:srgbClr val="2EF2C2"/>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13</Slides>
  <Notes>13</Notes>
  <HiddenSlides>0</HiddenSlides>
  <MMClips>2</MMClips>
  <ScaleCrop>0</ScaleCrop>
  <HeadingPairs>
    <vt:vector size="4" baseType="variant">
      <vt:variant>
        <vt:lpstr>Theme</vt:lpstr>
      </vt:variant>
      <vt:variant>
        <vt:i4>1</vt:i4>
      </vt:variant>
      <vt:variant>
        <vt:lpstr>Slide Titles</vt:lpstr>
      </vt:variant>
      <vt:variant>
        <vt:i4>13</vt:i4>
      </vt:variant>
    </vt:vector>
  </HeadingPairs>
  <TitlesOfParts>
    <vt:vector size="14"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coreProperties>
</file>