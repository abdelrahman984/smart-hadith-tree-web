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17"/>
  </p:notesMasterIdLst>
  <p:sldIdLst>
    <p:sldId id="256" r:id="rId4"/>
    <p:sldId id="257" r:id="rId5"/>
    <p:sldId id="258" r:id="rId6"/>
    <p:sldId id="259" r:id="rId7"/>
    <p:sldId id="271" r:id="rId23"/>
    <p:sldId id="272" r:id="rId24"/>
    <p:sldId id="273" r:id="rId25"/>
    <p:sldId id="274" r:id="rId26"/>
    <p:sldId id="260" r:id="rId8"/>
    <p:sldId id="261" r:id="rId9"/>
    <p:sldId id="262" r:id="rId10"/>
    <p:sldId id="263" r:id="rId11"/>
    <p:sldId id="264" r:id="rId12"/>
    <p:sldId id="265" r:id="rId13"/>
    <p:sldId id="266" r:id="rId14"/>
    <p:sldId id="267" r:id="rId15"/>
    <p:sldId id="268" r:id="rId16"/>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a:noFill/>
            </a:ln>
          </a:left>
          <a:right>
            <a:ln>
              <a:noFill/>
            </a:ln>
          </a:right>
          <a:top>
            <a:ln>
              <a:noFill/>
            </a:ln>
          </a:top>
          <a:bottom>
            <a:ln>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32766" d="530282864"/>
          <a:sy n="32766" d="3"/>
        </p:scale>
        <p:origin x="-649587408" y="496"/>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tableStyles" Target="tableStyles.xml"/><Relationship Id="rId20" Type="http://schemas.openxmlformats.org/officeDocument/2006/relationships/viewProps" Target="viewProps.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1016821308"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640498849"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2040975614"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90635332"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519997509"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431748114"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19388441"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981871322"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481759727"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55872702"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32893087"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1301110757"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87402498"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642591098"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704818828"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50256555"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06609487"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824757260"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739236712"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384065987"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545653389"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80844292"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025657458"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1225699069"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23109797"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29625063"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1575138484"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97808076"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14763265"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1965344755"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500419092"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455999111"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القياس: اعرض ما اكتمل فعلاً فقط. بندا «دقة قواعد العلل» و«اختبار المستخدمين» قيد التنفيذ ولم تصدر نتيجتهما؛ لا تذكر لهما رقماً. حدّث الجدول بالنتائج الفعلية فور صدورها، وأحضرها في العرض النهائي إن تأهلنا. تنبيه: «10 من 10» اختبارات على منطق الكود، وحقل تصنيف الأقوال (VerdictRating) فارغ في البيانات الحالية.</a:t>
            </a:r>
          </a:p>
        </p:txBody>
      </p:sp>
      <p:sp>
        <p:nvSpPr>
          <p:cNvPr id="4880420"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40974666"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782173579"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284525249"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129254871"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00729357"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2011384972"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75130853"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653927890"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الفريق: فريق فردي (رقم الفريق 774). المطوّر والقائد يغطي الذكاء الاصطناعي وقواعد العلل والواجهات والخادم والبيانات وتجربة المستخدم والاختبار. المراجعة الشرعية غير منجزة بعد، وهي مخطَّطة بعد التسليم. لا تدّعِ وجود متخصص شرعي في الفريق.</a:t>
            </a:r>
          </a:p>
        </p:txBody>
      </p:sp>
      <p:sp>
        <p:nvSpPr>
          <p:cNvPr id="2106327383"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998675226"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39029987"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161316774"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لقطة حقيقية من الرابط الحي: البحث يرجع 12 رواية من عدة كتب والعبارة موجودة حرفياً.</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درج الراوي يعرض ترجمته وحالة الدليل، ولا يصدر حكماً: الأقوال غير مصنَّفة في البيانات فيُطلب من المستخدم قراءتها بنفسه.</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102990501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69266357"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1695804780"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1225448335"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803014721"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5597879"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017679"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1427366"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226907740"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5763720"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854394803"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99585106"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3191295"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616371325"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052872936"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56417393"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0824938"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94479602"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0843571"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04275713"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07424945"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3345809"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5725158"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4014279"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0621328"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633078"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9495597"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1118854"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1086549"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940092"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6707621"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27865893"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2018312239"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59865920"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557704193"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4812102"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93738106"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2090438456"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5119224"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38058110"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46113877"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0465076"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8059171"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44589485"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97698257"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311392"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3621160"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4016255"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348133"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7438248"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00264267"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4630460"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133170336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73893655"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51497493"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386864"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91715541"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874321738"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61815944"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0192421"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62592555"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934857821"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2126394"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937440984"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00461280"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1722422"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8766254"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10279893"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1722087875"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1972715"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605197"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4776327"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1699256262"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84358647"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10737475"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01100060"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35027549"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09005764"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94455117"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2008362111"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0479267"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11046143"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1584882148"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82197999"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38651993"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6656781"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6064854"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72151127"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07560449"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712700193"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8647373"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3812146"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370136"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84853245"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0712699"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70957936"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39368594"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6386816"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8389028"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5785997"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29223628"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9945069"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220763670"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58145350"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1563898917"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774486156"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72433958"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9111436"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893383"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2048621811"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268805630"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927581985"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9360449"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9913925"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6583093"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7521443"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10367861"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74913582"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1770143724"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653985618"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86919421"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756123759"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255265808"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697808845"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814930164"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564162777"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25757343"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17869898"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04258312"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52994547"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23417660"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9123472"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9370514"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1356071"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2943676"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61177901"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7817141"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3221119"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5751151"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3002089"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3899195"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6077377"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9005421"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85987240"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37823963"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483352"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51955402"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8947162"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64279662"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5176264"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1133135665"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9441719"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204545881"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14642782"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23252739"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5664572"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7481147"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124288444"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731789702"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10772096"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0950842"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439936918"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61357324"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45568243"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683779720"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51962437"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33244636"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825212106"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5513982"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670179441"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3705320"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891301956"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0704745"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1248049"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81921583"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582107142"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60250878"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425730"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9385186"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9695249"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1824578"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4279020"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52835468"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4811321"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454569817"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88321266"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976785369"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8787625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2706399"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3937308"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279588731"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77240405"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3701000"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81683886"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55827726"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74911489"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4562188"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8177868"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71946275"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77218540"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705765897"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7179003"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969624015"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02814080"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24509676"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78261850"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7069536"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1312881"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822446963"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4070527"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7477471"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807445574"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26456238"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61984580"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10297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8699452"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5411243"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63983776"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6880133"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12679609"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6590516"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0836019"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110522306"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473297551"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401215851"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344252983"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419016231"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675682"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1379334893"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54788581"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95819135"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2245197"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14175830"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81925667"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55156940"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780378669"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13065323"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951484703"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9030356"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793726677"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936963611"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73055476"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23060129"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008934"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2607673"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8671250"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38276014"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18136148"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55826593"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46538448"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2513340"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66498410"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77031271"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200968"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4603586"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327935970"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05723973"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458581965"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0899672"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11707635"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1268244"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95389889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774416631"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55400946"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16502916"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63894197"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31121048"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3217656"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1203182443"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77077023"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1339526755"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9497974"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1453796308"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9041056"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105461065"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309735149"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30177597"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607464999"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1088934165"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1942458417"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425334873"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89437671"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4567472"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6.jpg"/><Relationship Id="rId6"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37259990"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240228838"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645756628"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549309696"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807176078"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853403724"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036266030"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1535635573"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937418510"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568635245" name="Google Shape;556;p12"/>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095232136"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2036427920" name="Google Shape;558;p12"/>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57383437"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719912606"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403975437"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321057714"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321401468" name="Google Shape;563;p12"/>
          <p:cNvSpPr txBox="1"/>
          <p:nvPr>
            <p:ph type="body" idx="3"/>
          </p:nvPr>
        </p:nvSpPr>
        <p:spPr bwMode="auto">
          <a:xfrm>
            <a:off x="5886450" y="7239000"/>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2033277569" name="Google Shape;564;p12"/>
          <p:cNvSpPr txBox="1"/>
          <p:nvPr>
            <p:ph type="body" idx="4"/>
          </p:nvPr>
        </p:nvSpPr>
        <p:spPr bwMode="auto">
          <a:xfrm>
            <a:off x="5886450" y="8001000"/>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35989607"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370791795"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1602936011"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797078441"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901916133"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921289574"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824400662"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377817988"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1342036465"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469631670"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053718219"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904166625"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1651957219"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407230965"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916360165"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35745135"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158670603"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163353212"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099991347"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498634904"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458413316"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295063761"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987441879"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18176407"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152433935"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4069080" y="3754755"/>
            <a:ext cx="10149840" cy="5709285"/>
          </a:xfrm>
          <a:prstGeom prst="rect">
            <a:avLst/>
          </a:prstGeom>
          <a:ln w="19050">
            <a:solidFill>
              <a:srgbClr val="12183F"/>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takhreej_many.png"/>
          <p:cNvPicPr>
            <a:picLocks noChangeAspect="1"/>
          </p:cNvPicPr>
          <p:nvPr/>
        </p:nvPicPr>
        <p:blipFill>
          <a:blip r:embed="rId4"/>
          <a:stretch>
            <a:fillRect/>
          </a:stretch>
        </p:blipFill>
        <p:spPr>
          <a:xfrm>
            <a:off x="4584861" y="3754755"/>
            <a:ext cx="9118277" cy="5709285"/>
          </a:xfrm>
          <a:prstGeom prst="rect">
            <a:avLst/>
          </a:prstGeom>
          <a:ln w="19050">
            <a:solidFill>
              <a:srgbClr val="12183F"/>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4069080" y="3754755"/>
            <a:ext cx="10149840" cy="5709285"/>
          </a:xfrm>
          <a:prstGeom prst="rect">
            <a:avLst/>
          </a:prstGeom>
          <a:ln w="19050">
            <a:solidFill>
              <a:srgbClr val="12183F"/>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85420847" name="Google Shape;686;p19"/>
          <p:cNvPicPr/>
          <p:nvPr/>
        </p:nvPicPr>
        <p:blipFill rotWithShape="1">
          <a:blip r:embed="rId2">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3">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8016642" name="Picture 1158016641" descr="image.png"/>
          <p:cNvPicPr>
            <a:picLocks noChangeAspect="1"/>
          </p:cNvPicPr>
          <p:nvPr/>
        </p:nvPicPr>
        <p:blipFill>
          <a:blip r:embed="rId4"/>
          <a:stretch>
            <a:fillRect/>
          </a:stretch>
        </p:blipFill>
        <p:spPr>
          <a:xfrm>
            <a:off x="4069080" y="3754755"/>
            <a:ext cx="10149840" cy="5709285"/>
          </a:xfrm>
          <a:prstGeom prst="rect">
            <a:avLst/>
          </a:prstGeom>
          <a:ln w="19050">
            <a:solidFill>
              <a:srgbClr val="12183F"/>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04493557"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1878689801"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99492533"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065714166"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2060576995"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2094933669"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735927859"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66484396"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891437678"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340617817"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1723366071"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2048494057"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375812355"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376922963"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1291210075"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903155528"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597474968"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1832925308"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459712520"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848655203"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1664592704"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919323526"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2036214764"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044235853"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393614203"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47688172"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1682225954"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928792565"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049471905"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249623221"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1347961166"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1336411066"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799888556"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673023579"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839598733"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949894444"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446803544"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47738158"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135594447"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692460907"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740223861"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950519698"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518376739"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048003186"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1616215197"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40241979"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83561752"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1401887728"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4058155"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892317047"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116264876"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208941341"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90177890"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808398272"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32108336"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641480285"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2012596618"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413905680"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998260875"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168761562"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2082371640"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661270393"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1467208680"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1096534166"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266669885"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500555435"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035429239"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613661916"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1677486759"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1257472413"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232899838"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913567817"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939033759"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1934347596"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644133476"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598469462"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363467631"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3541369"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1059764360"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كيف نقيس النجاح</a:t>
            </a:r>
            <a:endParaRPr/>
          </a:p>
        </p:txBody>
      </p:sp>
      <p:sp>
        <p:nvSpPr>
          <p:cNvPr id="534636792"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اكتمل وما هو قيد التنفيذ، بوضوح</a:t>
            </a:r>
            <a:endParaRPr/>
          </a:p>
        </p:txBody>
      </p:sp>
      <p:sp>
        <p:nvSpPr>
          <p:cNvPr id="1031654150"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603078463"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الإعداد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 (تصنيف البيانات 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الإعداد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قيد التنفيذ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339124134"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وكل بند «قيد التنفيذ» لم تصدر نتيجته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16399600"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696648806"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957703964"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1782563264"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654528509"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523372842"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241200906"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685965077"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356587972"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121204354"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221781027"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660406270"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766225862"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626301092"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994365607"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611468678"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340873423"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790539137"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980100989"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702652813"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806735459"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1850453048"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557567648"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1465097975"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915066289"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427652946"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230578030"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1910029411"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206749533"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421371955"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677315639"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07110471"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598106079"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433859501"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716934585"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1366333108"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163352176"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706899319"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1718097690"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1306552933"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226435756"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1069126043"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1344696567"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8542084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158016641"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70238623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15328368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121932078"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210798821"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950496551" name="Google Shape;693;p19"/>
          <p:cNvSpPr txBox="1"/>
          <p:nvPr>
            <p:ph type="body" idx="4"/>
          </p:nvPr>
        </p:nvSpPr>
        <p:spPr bwMode="auto">
          <a:xfrm>
            <a:off x="4572000" y="6892290"/>
            <a:ext cx="914400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70496847" name="Google Shape;694;p19"/>
          <p:cNvSpPr txBox="1"/>
          <p:nvPr>
            <p:ph type="body" idx="5"/>
          </p:nvPr>
        </p:nvSpPr>
        <p:spPr bwMode="auto">
          <a:xfrm>
            <a:off x="3657600" y="7663815"/>
            <a:ext cx="10972800" cy="51435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ومطوّر المشروع كاملاً</a:t>
            </a:r>
            <a:endParaRPr/>
          </a:p>
        </p:txBody>
      </p:sp>
      <p:sp>
        <p:nvSpPr>
          <p:cNvPr id="1538261648" name="Google Shape;697;p19"/>
          <p:cNvSpPr txBox="1"/>
          <p:nvPr>
            <p:ph type="body" idx="8"/>
          </p:nvPr>
        </p:nvSpPr>
        <p:spPr bwMode="auto">
          <a:xfrm>
            <a:off x="1188720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الذكاء الاصطناعي وقواعد العلل</a:t>
            </a:r>
            <a:endParaRPr/>
          </a:p>
        </p:txBody>
      </p:sp>
      <p:sp>
        <p:nvSpPr>
          <p:cNvPr id="1287218123" name="Google Shape;700;p19"/>
          <p:cNvSpPr txBox="1"/>
          <p:nvPr>
            <p:ph type="body" idx="14"/>
          </p:nvPr>
        </p:nvSpPr>
        <p:spPr bwMode="auto">
          <a:xfrm>
            <a:off x="676656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855176475" name="Google Shape;703;p19"/>
          <p:cNvSpPr txBox="1"/>
          <p:nvPr>
            <p:ph type="body" idx="17"/>
          </p:nvPr>
        </p:nvSpPr>
        <p:spPr bwMode="auto">
          <a:xfrm>
            <a:off x="164592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pic>
        <p:nvPicPr>
          <p:cNvPr id="1950496552" name="Picture 1950496551" descr="portrait_circle.png"/>
          <p:cNvPicPr>
            <a:picLocks noChangeAspect="1"/>
          </p:cNvPicPr>
          <p:nvPr/>
        </p:nvPicPr>
        <p:blipFill>
          <a:blip r:embed="rId6"/>
          <a:stretch>
            <a:fillRect/>
          </a:stretch>
        </p:blipFill>
        <p:spPr>
          <a:xfrm>
            <a:off x="7600950" y="3703320"/>
            <a:ext cx="3086100" cy="3086100"/>
          </a:xfrm>
          <a:prstGeom prst="rect">
            <a:avLst/>
          </a:prstGeom>
        </p:spPr>
      </p:pic>
      <p:sp>
        <p:nvSpPr>
          <p:cNvPr id="1950496553" name="TextBox 1950496552"/>
          <p:cNvSpPr txBox="1"/>
          <p:nvPr/>
        </p:nvSpPr>
        <p:spPr>
          <a:xfrm>
            <a:off x="3657600" y="9103995"/>
            <a:ext cx="10972800" cy="411480"/>
          </a:xfrm>
          <a:prstGeom prst="rect">
            <a:avLst/>
          </a:prstGeom>
          <a:noFill/>
        </p:spPr>
        <p:txBody>
          <a:bodyPr wrap="square">
            <a:spAutoFit/>
          </a:bodyPr>
          <a:lstStyle/>
          <a:p>
            <a:pPr rtl="1" algn="ctr"/>
            <a:r>
              <a:rPr sz="2000">
                <a:solidFill>
                  <a:srgbClr val="12183F"/>
                </a:solidFill>
              </a:rPr>
              <a:t>المراجعة الشرعية للمصطلحات والحالات: مخطَّطة بعد التسليم</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52535244"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498906782"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75623384"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2000648776"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69413673"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1660851714"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139244695"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480022100"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267544621"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1330557453"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649436410"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580126342"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604180642"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1894970672"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93398944"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13</Slides>
  <Notes>13</Notes>
  <HiddenSlides>0</HiddenSlides>
  <MMClips>2</MMClips>
  <ScaleCrop>0</ScaleCrop>
  <HeadingPairs>
    <vt:vector size="4" baseType="variant">
      <vt:variant>
        <vt:lpstr>Theme</vt:lpstr>
      </vt:variant>
      <vt:variant>
        <vt:i4>1</vt:i4>
      </vt:variant>
      <vt:variant>
        <vt:lpstr>Slide Titles</vt:lpstr>
      </vt:variant>
      <vt:variant>
        <vt:i4>13</vt:i4>
      </vt:variant>
    </vt:vector>
  </HeadingPairs>
  <TitlesOfParts>
    <vt:vector size="1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coreProperties>
</file>