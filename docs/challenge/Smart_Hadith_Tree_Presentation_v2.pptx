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4.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7" r:id="rId17"/>
    <p:sldId id="266" r:id="rId16"/>
    <p:sldId id="279" r:id="rId29"/>
    <p:sldId id="282" r:id="rId32"/>
    <p:sldId id="275" r:id="rId25"/>
    <p:sldId id="270" r:id="rId20"/>
    <p:sldId id="264" r:id="rId14"/>
    <p:sldId id="272" r:id="rId22"/>
    <p:sldId id="273" r:id="rId23"/>
    <p:sldId id="283" r:id="rId3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13" Type="http://schemas.openxmlformats.org/officeDocument/2006/relationships/slide" Target="slides/slide1.xml"/><Relationship Id="rId14" Type="http://schemas.openxmlformats.org/officeDocument/2006/relationships/slide" Target="slides/slide8.xml"/><Relationship Id="rId16" Type="http://schemas.openxmlformats.org/officeDocument/2006/relationships/slide" Target="slides/slide3.xml"/><Relationship Id="rId17" Type="http://schemas.openxmlformats.org/officeDocument/2006/relationships/slide" Target="slides/slide2.xml"/><Relationship Id="rId20" Type="http://schemas.openxmlformats.org/officeDocument/2006/relationships/slide" Target="slides/slide7.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2.xml"/><Relationship Id="rId25" Type="http://schemas.openxmlformats.org/officeDocument/2006/relationships/slide" Target="slides/slide6.xml"/><Relationship Id="rId29"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11.xml"/><Relationship Id="rId36" Type="http://schemas.openxmlformats.org/officeDocument/2006/relationships/slide" Target="slides/slide13.xml"/><Relationship Id="rId37" Type="http://schemas.openxmlformats.org/officeDocument/2006/relationships/font" Target="fonts/Urbanist-regular.fntdata"/><Relationship Id="rId38" Type="http://schemas.openxmlformats.org/officeDocument/2006/relationships/font" Target="fonts/Urbanist-bold.fntdata"/><Relationship Id="rId39" Type="http://schemas.openxmlformats.org/officeDocument/2006/relationships/font" Target="fonts/Urbanist-italic.fntdata"/><Relationship Id="rId40" Type="http://schemas.openxmlformats.org/officeDocument/2006/relationships/font" Target="fonts/Urbanist-boldItalic.fntdata"/><Relationship Id="rId41" Type="http://schemas.openxmlformats.org/officeDocument/2006/relationships/font" Target="fonts/ReadexProMedium-regular.fntdata"/><Relationship Id="rId42" Type="http://schemas.openxmlformats.org/officeDocument/2006/relationships/font" Target="fonts/ReadexProMedium-bold.fntdata"/><Relationship Id="rId43" Type="http://schemas.openxmlformats.org/officeDocument/2006/relationships/font" Target="fonts/ReadexProSemiBold-regular.fntdata"/><Relationship Id="rId44" Type="http://schemas.openxmlformats.org/officeDocument/2006/relationships/font" Target="fonts/ReadexProSemiBold-bold.fntdata"/><Relationship Id="rId45" Type="http://schemas.openxmlformats.org/officeDocument/2006/relationships/font" Target="fonts/ReadexPro-regular.fntdata"/><Relationship Id="rId46" Type="http://schemas.openxmlformats.org/officeDocument/2006/relationships/font" Target="fonts/ReadexPro-bold.fntdata"/><Relationship Id="rId47" Type="http://schemas.openxmlformats.org/officeDocument/2006/relationships/font" Target="fonts/ReadexProLight-regular.fntdata"/><Relationship Id="rId48" Type="http://schemas.openxmlformats.org/officeDocument/2006/relationships/font" Target="fonts/ReadexProLight-bold.fntdata"/><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افتتاح (10 ثوانٍ): اسم المشروع والمسار 04. الرسالة: نحوّل السند إلى رسم يُفحص، ونُظهر مصدر كل معلومة وحالة دليلها.</a:t>
            </a:r>
            <a:endParaRPr/>
          </a:p>
          <a:p>
            <a:pPr indent="0" lvl="0" marL="0" rtl="0" algn="l">
              <a:spcBef>
                <a:spcPts val="0"/>
              </a:spcBef>
              <a:spcAft>
                <a:spcPts val="0"/>
              </a:spcAft>
              <a:buNone/>
            </a:pPr>
            <a:r>
              <a:t/>
            </a:r>
            <a:endParaRPr sz="1200"/>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5" name="Google Shape;49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ذكّر أن الذكاء الاصطناعي يُستدعى عند طلب المستخدم فقط، وأن الأقوال الأصلية والشجرة وفحص العلل لا تعتمد عليه.</a:t>
            </a:r>
            <a:endParaRPr/>
          </a:p>
          <a:p>
            <a:pPr indent="0" lvl="0" marL="0" rtl="0" algn="l">
              <a:spcBef>
                <a:spcPts val="0"/>
              </a:spcBef>
              <a:spcAft>
                <a:spcPts val="0"/>
              </a:spcAft>
              <a:buNone/>
            </a:pPr>
            <a:r>
              <a:t/>
            </a:r>
            <a:endParaRPr sz="1200"/>
          </a:p>
        </p:txBody>
      </p:sp>
      <p:sp>
        <p:nvSpPr>
          <p:cNvPr id="496" name="Google Shape;49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الحل: أربع إمكانات. ابدأ بعد هذه الشريحة بالعرض الحي لا بالشرائح.</a:t>
            </a:r>
            <a:endParaRPr/>
          </a:p>
          <a:p>
            <a:pPr indent="0" lvl="0" marL="0" rtl="0" algn="l">
              <a:spcBef>
                <a:spcPts val="0"/>
              </a:spcBef>
              <a:spcAft>
                <a:spcPts val="0"/>
              </a:spcAft>
              <a:buNone/>
            </a:pPr>
            <a:r>
              <a:t/>
            </a:r>
            <a:endParaRPr sz="1200"/>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1" name="Shape 551"/>
        <p:cNvGrpSpPr/>
        <p:nvPr/>
      </p:nvGrpSpPr>
      <p:grpSpPr>
        <a:xfrm>
          <a:off x="0" y="0"/>
          <a:ext cx="0" cy="0"/>
          <a:chOff x="0" y="0"/>
          <a:chExt cx="0" cy="0"/>
        </a:xfrm>
      </p:grpSpPr>
      <p:sp>
        <p:nvSpPr>
          <p:cNvPr id="552" name="Google Shape;552;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3" name="Google Shape;553;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المشكلة (30 ثانية): من المستفيد؟ المعرِّف بالإسلام والباحث. حاجته: التحقق من اتصال السند وأقوال العلماء في الرواة. ثم معيار نجاح المسار 04.</a:t>
            </a:r>
            <a:endParaRPr/>
          </a:p>
          <a:p>
            <a:pPr indent="0" lvl="0" marL="0" rtl="0" algn="l">
              <a:spcBef>
                <a:spcPts val="0"/>
              </a:spcBef>
              <a:spcAft>
                <a:spcPts val="0"/>
              </a:spcAft>
              <a:buNone/>
            </a:pPr>
            <a:r>
              <a:t/>
            </a:r>
            <a:endParaRPr sz="1200"/>
          </a:p>
        </p:txBody>
      </p:sp>
      <p:sp>
        <p:nvSpPr>
          <p:cNvPr id="554" name="Google Shape;554;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البيانات: تحقق من هذه الأرقام من الحالة النهائية للبيانات قبل العرض، وحدّثها إن تغيّرت بعد دمج بيانات الرجال.</a:t>
            </a:r>
            <a:endParaRPr/>
          </a:p>
          <a:p>
            <a:pPr indent="0" lvl="0" marL="0" rtl="0" algn="l">
              <a:spcBef>
                <a:spcPts val="0"/>
              </a:spcBef>
              <a:spcAft>
                <a:spcPts val="0"/>
              </a:spcAft>
              <a:buNone/>
            </a:pPr>
            <a:r>
              <a:t/>
            </a:r>
            <a:endParaRPr sz="1200"/>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القياس: اعرض ما نُفِّذ فعلاً فقط. حدّث الجدول بنتائج جلسات اختبار المستخدمين ودقة قواعد العلل فور توفرها، وأزل كلمة «مخطَّط» عند إنجاز البند.</a:t>
            </a:r>
          </a:p>
          <a:p/>
          <a:p/>
          <a:p>
            <a:r>
              <a:t>تنبيه: «10 من 10» اختبارات على منطق الكود. حقل تصنيف الأقوال (VerdictRating) فارغ في البيانات الحالية، فلافتة «اختلف العلماء» لا تظهر على الرابط الحي بعد؛ قل ذلك صراحة إن سُئلت.</a:t>
            </a: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خطة الاستمرار: الأولويات بعد التسليم. أضف تكلفة التشغيل والاستضافة إن كانت معروفة.</a:t>
            </a:r>
          </a:p>
          <a:p/>
          <a:p/>
          <a:p>
            <a:r>
              <a:t>يُضاف إلى الأولويات: تصنيف أقوال العلماء (تعديل/جرح) في البيانات بمراجعة شرعية ليظهر الخلاف بينهم.</a:t>
            </a: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الفريق: فريق فردي (رقم الفريق 774)، وأنا أغطي الذكاء الاصطناعي والواجهات والخادم والبيانات والاختبار. المراجعة الشرعية للمصطلحات والحالات غير منجزة بعد، وهي مخطَّطة بعد التسليم (الشريحة 10). لا تدّعِ وجود متخصص شرعي في الفريق.</a:t>
            </a: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06" name="Google Shape;706;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السلامة العلمية: اذكر الحدود بنفسك قبل أن تُسأل. لا فتوى ولا حكم نهائي، وامتناع عند غياب المرجع، واقتباس يُتحقق منه، وتنبيه ظاهر. هذا يقلل الاختلاق ولا يدّعي إلغاءه.</a:t>
            </a:r>
            <a:endParaRPr/>
          </a:p>
          <a:p>
            <a:pPr indent="0" lvl="0" marL="0" rtl="0" algn="l">
              <a:spcBef>
                <a:spcPts val="0"/>
              </a:spcBef>
              <a:spcAft>
                <a:spcPts val="0"/>
              </a:spcAft>
              <a:buNone/>
            </a:pPr>
            <a:r>
              <a:t/>
            </a:r>
            <a:endParaRPr sz="1200"/>
          </a:p>
        </p:txBody>
      </p:sp>
      <p:sp>
        <p:nvSpPr>
          <p:cNvPr id="707" name="Google Shape;707;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من طرف الحديث إلى حالة الدليل. الأثر يُقاس باختبار مستخدمين (مخطَّط) فلا تدّعِ نتائج قبل إجرائه.</a:t>
            </a:r>
            <a:endParaRPr/>
          </a:p>
          <a:p>
            <a:pPr indent="0" lvl="0" marL="0" rtl="0" algn="l">
              <a:spcBef>
                <a:spcPts val="0"/>
              </a:spcBef>
              <a:spcAft>
                <a:spcPts val="0"/>
              </a:spcAft>
              <a:buNone/>
            </a:pPr>
            <a:r>
              <a:t/>
            </a:r>
            <a:endParaRPr sz="1200"/>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ما يميّز الأداة: الذكاء الاصطناعي المنضبط، والقاموس، والأقوال المنسوبة بنصها ومصدرها، وحالة الدليل. عرض الخلاف بين العلماء مبني في الواجهة لكن تصنيف الأقوال (تعديل/جرح) في البيانات لم يُملأ بعد، فلا نعرضه كميزة تعمل اليوم.</a:t>
            </a: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القيمة المضافة: نكمّل الشاملة والدرر السنية ولا نستبدلهما، ونحيل إليهما للحكم المعتمد.</a:t>
            </a:r>
            <a:endParaRPr/>
          </a:p>
          <a:p>
            <a:pPr indent="0" lvl="0" marL="0" rtl="0" algn="l">
              <a:spcBef>
                <a:spcPts val="0"/>
              </a:spcBef>
              <a:spcAft>
                <a:spcPts val="0"/>
              </a:spcAft>
              <a:buNone/>
            </a:pPr>
            <a:r>
              <a:t/>
            </a:r>
            <a:endParaRPr sz="1200"/>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الختام: الرابط الحي والمستودع العام. تأكد قبل العرض أن الرابط الحي يفتح وأن المستودع عام.</a:t>
            </a: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7.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9" Type="http://schemas.openxmlformats.org/officeDocument/2006/relationships/image" Target="../media/image19.png"/><Relationship Id="rId10"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شجرة الأسانيد الذكية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نرسم الإسناد ونفحصه، ونُظهر مصدر كل معلومة وحالة دليلها، ونحيل عند غياب المرجع</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المسار 04</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55" name="Shape 555"/>
        <p:cNvGrpSpPr/>
        <p:nvPr/>
      </p:nvGrpSpPr>
      <p:grpSpPr>
        <a:xfrm>
          <a:off x="0" y="0"/>
          <a:ext cx="0" cy="0"/>
          <a:chOff x="0" y="0"/>
          <a:chExt cx="0" cy="0"/>
        </a:xfrm>
      </p:grpSpPr>
      <p:pic>
        <p:nvPicPr>
          <p:cNvPr id="556" name="Google Shape;556;p12"/>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57" name="Google Shape;557;p12"/>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8" name="Google Shape;558;p12"/>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59" name="Google Shape;559;p12"/>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 والمستفيد</a:t>
            </a:r>
            <a:endParaRPr/>
          </a:p>
        </p:txBody>
      </p:sp>
      <p:sp>
        <p:nvSpPr>
          <p:cNvPr id="560" name="Google Shape;560;p12"/>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التحقق من الإسناد مبعثر بين الكتب</a:t>
            </a:r>
            <a:endParaRPr/>
          </a:p>
        </p:txBody>
      </p:sp>
      <p:sp>
        <p:nvSpPr>
          <p:cNvPr id="561" name="Google Shape;561;p1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62" name="Google Shape;562;p12"/>
          <p:cNvSpPr txBox="1"/>
          <p:nvPr>
            <p:ph idx="2" type="body"/>
          </p:nvPr>
        </p:nvSpPr>
        <p:spPr>
          <a:xfrm>
            <a:off x="5886450" y="3604500"/>
            <a:ext cx="10953900" cy="2239800"/>
          </a:xfrm>
          <a:prstGeom prst="rect">
            <a:avLst/>
          </a:prstGeom>
          <a:noFill/>
          <a:ln>
            <a:noFill/>
          </a:ln>
        </p:spPr>
        <p:txBody>
          <a:bodyPr anchorCtr="0" anchor="t" bIns="0" lIns="0" spcFirstLastPara="1" rIns="0" wrap="square" tIns="0">
            <a:noAutofit/>
          </a:bodyPr>
          <a:lstStyle/>
          <a:p>
            <a:pPr indent="0" lvl="0" marL="0" rtl="1" algn="r">
              <a:lnSpc>
                <a:spcPct val="115000"/>
              </a:lnSpc>
              <a:spcBef>
                <a:spcPts val="0"/>
              </a:spcBef>
              <a:spcAft>
                <a:spcPts val="0"/>
              </a:spcAft>
              <a:buSzPts val="3225"/>
              <a:buNone/>
            </a:pPr>
            <a:r>
              <a:rPr lang="ar-SA" sz="3225">
                <a:solidFill>
                  <a:srgbClr val="F2F4FF"/>
                </a:solidFill>
                <a:latin typeface="Readex Pro Light"/>
                <a:ea typeface="Readex Pro Light"/>
                <a:cs typeface="Readex Pro Light"/>
                <a:sym typeface="Readex Pro Light"/>
              </a:rPr>
              <a:t>يحتاج المعرِّف بالإسلام والباحث أن يعرفا: هل الإسناد متصل؟ ومن رواته؟ وما قاله العلماء فيهم؟ هذه المعلومات موزعة بين دواوين الحديث وكتب التراجم والعلل، وتُقرأ نصاً دون رؤية شاملة للطرق.</a:t>
            </a:r>
            <a:endParaRPr>
              <a:latin typeface="Readex Pro Light"/>
              <a:ea typeface="Readex Pro Light"/>
              <a:cs typeface="Readex Pro Light"/>
              <a:sym typeface="Readex Pro Light"/>
            </a:endParaRPr>
          </a:p>
        </p:txBody>
      </p:sp>
      <p:sp>
        <p:nvSpPr>
          <p:cNvPr id="563" name="Google Shape;563;p12"/>
          <p:cNvSpPr txBox="1"/>
          <p:nvPr>
            <p:ph idx="3" type="body"/>
          </p:nvPr>
        </p:nvSpPr>
        <p:spPr>
          <a:xfrm>
            <a:off x="5886450" y="7239000"/>
            <a:ext cx="1095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700"/>
              <a:buNone/>
            </a:pPr>
            <a:r>
              <a:rPr b="1" lang="ar-SA" sz="2700">
                <a:solidFill>
                  <a:srgbClr val="2EF2C2"/>
                </a:solidFill>
                <a:latin typeface="Readex Pro"/>
                <a:ea typeface="Readex Pro"/>
                <a:cs typeface="Readex Pro"/>
                <a:sym typeface="Readex Pro"/>
              </a:rPr>
              <a:t>معيار النجاح</a:t>
            </a:r>
            <a:endParaRPr/>
          </a:p>
        </p:txBody>
      </p:sp>
      <p:sp>
        <p:nvSpPr>
          <p:cNvPr id="564" name="Google Shape;564;p12"/>
          <p:cNvSpPr txBox="1"/>
          <p:nvPr>
            <p:ph idx="4" type="body"/>
          </p:nvPr>
        </p:nvSpPr>
        <p:spPr>
          <a:xfrm>
            <a:off x="5886450" y="8001000"/>
            <a:ext cx="10953900" cy="857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تحقق أوضح وأسرع، ومصدر وحالة دليل ظاهران، وتمييز ما تؤيده المصادر مما يتطلب تحققاً أو إحالة</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إسناد يُرسم ويُفحص</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أربع إمكانات في مكان واحد</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شجرة إسناد تفاعلية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رسم من الصحابي إلى المصنِّف يُبرز المدار ومواضع الانتباه</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فحص العلل</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قواعد المحدثين في التدليس والاختلاط والانقطاع وغيرها، وهي تنبيهات لا أحكام</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أقوال الجرح والتعديل</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بنصها الحرفي، منسوبة لأصحابها ومصدرها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التخريج المقارن</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روايات الحديث من عدة دواوين في شجرة واحدة</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آلية العمل</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من الطلب إلى حالة الدليل</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أربع خطوات</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المدخلات</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طرف الحديث أو ألفاظه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نصي في الدواوين</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المعالجة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بناء شجرة الإسناد</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وفحص العلل آلياً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المخرجات</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رسم السند والأقوال</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حالة الدليل</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الأثر</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تحقق أوضح</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نقيسه مع مستخدمين</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ما يميّز الأداة</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عناصر الحل</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الذي يجعلها موثوقة</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ذكاء اصطناعي منضبط</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اقتباس حرفي يُتحقق منه،</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ويمتنع عند غياب المرجع</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قاموس المصطلحات</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تعريفات مبسطة بمقابل</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إنجليزي داخل الواجهة</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أقوال منسوبة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تُعرض الأقوال بأسمائها</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مع مصدر كل قول</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حالة الدليل</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مؤيَّد بنص مصدر، أو</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يتطلب تحققاً، أو لا مرجع كافٍ</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pic>
        <p:nvPicPr>
          <p:cNvPr id="709" name="Google Shape;709;p20"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710" name="Google Shape;710;p20"/>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السلامة العلمية</a:t>
            </a:r>
            <a:endParaRPr/>
          </a:p>
        </p:txBody>
      </p:sp>
      <p:sp>
        <p:nvSpPr>
          <p:cNvPr id="711" name="Google Shape;711;p20"/>
          <p:cNvSpPr txBox="1"/>
          <p:nvPr>
            <p:ph type="title"/>
          </p:nvPr>
        </p:nvSpPr>
        <p:spPr>
          <a:xfrm>
            <a:off x="6637950" y="1809750"/>
            <a:ext cx="102024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حدود واضحة لا تتجاوزها الأداة</a:t>
            </a:r>
            <a:endParaRPr/>
          </a:p>
        </p:txBody>
      </p:sp>
      <p:sp>
        <p:nvSpPr>
          <p:cNvPr id="712" name="Google Shape;712;p20"/>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منسجمة مع ضوابط المرجعية العلمية للتحدي</a:t>
            </a:r>
            <a:endParaRPr/>
          </a:p>
        </p:txBody>
      </p:sp>
      <p:sp>
        <p:nvSpPr>
          <p:cNvPr id="713" name="Google Shape;713;p2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sp>
        <p:nvSpPr>
          <p:cNvPr id="714" name="Google Shape;714;p20"/>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لا فتوى ولا حكم نهائي</a:t>
            </a:r>
            <a:endParaRPr/>
          </a:p>
        </p:txBody>
      </p:sp>
      <p:sp>
        <p:nvSpPr>
          <p:cNvPr id="715" name="Google Shape;715;p20"/>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تُعرض الأقوال والمؤشرات، ويُحال إلى الدرر السنية وأهل الاختصاص</a:t>
            </a:r>
            <a:endParaRPr/>
          </a:p>
        </p:txBody>
      </p:sp>
      <p:sp>
        <p:nvSpPr>
          <p:cNvPr id="716" name="Google Shape;716;p20"/>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امتناع عند غياب المرجع</a:t>
            </a:r>
            <a:endParaRPr/>
          </a:p>
        </p:txBody>
      </p:sp>
      <p:sp>
        <p:nvSpPr>
          <p:cNvPr id="717" name="Google Shape;717;p20"/>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راوٍ بلا أقوال مسجلة: لا تصنيف ولا تخمين، وتظهر عبارة «لا يوجد مرجع كافٍ»</a:t>
            </a:r>
            <a:endParaRPr/>
          </a:p>
        </p:txBody>
      </p:sp>
      <p:sp>
        <p:nvSpPr>
          <p:cNvPr id="718" name="Google Shape;718;p20"/>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اقتباس حرفي يُتحقق منه</a:t>
            </a:r>
            <a:endParaRPr/>
          </a:p>
        </p:txBody>
      </p:sp>
      <p:sp>
        <p:nvSpPr>
          <p:cNvPr id="719" name="Google Shape;719;p20"/>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يُرفض أي اقتباس لا يطابق الأقوال المسجلة، وأي درجة خارج المقياس المعروف</a:t>
            </a:r>
            <a:endParaRPr/>
          </a:p>
        </p:txBody>
      </p:sp>
      <p:sp>
        <p:nvSpPr>
          <p:cNvPr id="720" name="Google Shape;720;p20"/>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12183F"/>
                </a:solidFill>
                <a:latin typeface="Readex Pro"/>
                <a:ea typeface="Readex Pro"/>
                <a:cs typeface="Readex Pro"/>
                <a:sym typeface="Readex Pro"/>
              </a:rPr>
              <a:t>شفافية دائمة</a:t>
            </a:r>
            <a:endParaRPr/>
          </a:p>
        </p:txBody>
      </p:sp>
      <p:sp>
        <p:nvSpPr>
          <p:cNvPr id="721" name="Google Shape;721;p20"/>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4A5590"/>
                </a:solidFill>
                <a:latin typeface="Readex Pro"/>
                <a:ea typeface="Readex Pro"/>
                <a:cs typeface="Readex Pro"/>
                <a:sym typeface="Readex Pro"/>
              </a:rPr>
              <a:t>تنبيه ظاهر بأن الملخص مولَّد بمساعدة الذكاء الاصطناعي، مع الأقوال الأصلية</a:t>
            </a:r>
            <a:endParaRPr/>
          </a:p>
        </p:txBody>
      </p:sp>
      <p:pic>
        <p:nvPicPr>
          <p:cNvPr id="722" name="Google Shape;722;p20"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البيانات</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قاعدة بيانات المشروع</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الحالة الراهنة</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4400">
                <a:solidFill>
                  <a:srgbClr val="2EF2C2"/>
                </a:solidFill>
                <a:latin typeface="Readex Pro"/>
                <a:ea typeface="Readex Pro"/>
                <a:cs typeface="Readex Pro"/>
                <a:sym typeface="Readex Pro"/>
              </a:rPr>
              <a:t>31</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ديوان</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مجموعة سنية مسندة</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4400">
                <a:solidFill>
                  <a:srgbClr val="2EF2C2"/>
                </a:solidFill>
                <a:latin typeface="Readex Pro"/>
                <a:ea typeface="Readex Pro"/>
                <a:cs typeface="Readex Pro"/>
                <a:sym typeface="Readex Pro"/>
              </a:rPr>
              <a:t>274,597</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حديث وأثر</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مفهرس للبحث</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4400">
                <a:solidFill>
                  <a:srgbClr val="2EF2C2"/>
                </a:solidFill>
                <a:latin typeface="Readex Pro"/>
                <a:ea typeface="Readex Pro"/>
                <a:cs typeface="Readex Pro"/>
                <a:sym typeface="Readex Pro"/>
              </a:rPr>
              <a:t>1,217,978</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رابط إسناد</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شيخ ← تلميذ</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4400">
                <a:solidFill>
                  <a:srgbClr val="2EF2C2"/>
                </a:solidFill>
                <a:latin typeface="Readex Pro"/>
                <a:ea typeface="Readex Pro"/>
                <a:cs typeface="Readex Pro"/>
                <a:sym typeface="Readex Pro"/>
              </a:rPr>
              <a:t>23,502</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راوٍ</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مرتبط بأقوال العلماء حيث تتوفر</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المصدر: قاعدة بيانات المشروع، مبنية من المكتبة الشاملة</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97" name="Shape 497"/>
        <p:cNvGrpSpPr/>
        <p:nvPr/>
      </p:nvGrpSpPr>
      <p:grpSpPr>
        <a:xfrm>
          <a:off x="0" y="0"/>
          <a:ext cx="0" cy="0"/>
          <a:chOff x="0" y="0"/>
          <a:chExt cx="0" cy="0"/>
        </a:xfrm>
      </p:grpSpPr>
      <p:pic>
        <p:nvPicPr>
          <p:cNvPr id="498" name="Google Shape;498;p9"/>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99" name="Google Shape;499;p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500" name="Google Shape;500;p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التقنيات</a:t>
            </a:r>
            <a:endParaRPr/>
          </a:p>
        </p:txBody>
      </p:sp>
      <p:sp>
        <p:nvSpPr>
          <p:cNvPr id="501" name="Google Shape;501;p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التقنيات المستخدمة</a:t>
            </a:r>
            <a:endParaRPr/>
          </a:p>
        </p:txBody>
      </p:sp>
      <p:sp>
        <p:nvSpPr>
          <p:cNvPr id="502" name="Google Shape;502;p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03" name="Google Shape;503;p9"/>
          <p:cNvSpPr txBox="1"/>
          <p:nvPr>
            <p:ph idx="2" type="body"/>
          </p:nvPr>
        </p:nvSpPr>
        <p:spPr>
          <a:xfrm>
            <a:off x="12077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504" name="Google Shape;504;p9"/>
          <p:cNvSpPr txBox="1"/>
          <p:nvPr>
            <p:ph idx="3" type="body"/>
          </p:nvPr>
        </p:nvSpPr>
        <p:spPr>
          <a:xfrm>
            <a:off x="12077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واجهة المستخدم</a:t>
            </a:r>
            <a:endParaRPr/>
          </a:p>
        </p:txBody>
      </p:sp>
      <p:sp>
        <p:nvSpPr>
          <p:cNvPr id="505" name="Google Shape;505;p9"/>
          <p:cNvSpPr txBox="1"/>
          <p:nvPr>
            <p:ph idx="4" type="body"/>
          </p:nvPr>
        </p:nvSpPr>
        <p:spPr>
          <a:xfrm>
            <a:off x="12077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Next.js وReact وTypeScript</a:t>
            </a:r>
            <a:endParaRPr/>
          </a:p>
        </p:txBody>
      </p:sp>
      <p:sp>
        <p:nvSpPr>
          <p:cNvPr id="506" name="Google Shape;506;p9"/>
          <p:cNvSpPr txBox="1"/>
          <p:nvPr>
            <p:ph idx="5" type="body"/>
          </p:nvPr>
        </p:nvSpPr>
        <p:spPr>
          <a:xfrm>
            <a:off x="6743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507" name="Google Shape;507;p9"/>
          <p:cNvSpPr txBox="1"/>
          <p:nvPr>
            <p:ph idx="6" type="body"/>
          </p:nvPr>
        </p:nvSpPr>
        <p:spPr>
          <a:xfrm>
            <a:off x="6743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رسم الأسانيد</a:t>
            </a:r>
            <a:endParaRPr/>
          </a:p>
        </p:txBody>
      </p:sp>
      <p:sp>
        <p:nvSpPr>
          <p:cNvPr id="508" name="Google Shape;508;p9"/>
          <p:cNvSpPr txBox="1"/>
          <p:nvPr>
            <p:ph idx="7" type="body"/>
          </p:nvPr>
        </p:nvSpPr>
        <p:spPr>
          <a:xfrm>
            <a:off x="6743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React Flow مع ELK للتخطيط</a:t>
            </a:r>
            <a:endParaRPr>
              <a:latin typeface="Readex Pro Light"/>
              <a:ea typeface="Readex Pro Light"/>
              <a:cs typeface="Readex Pro Light"/>
              <a:sym typeface="Readex Pro Light"/>
            </a:endParaRPr>
          </a:p>
        </p:txBody>
      </p:sp>
      <p:sp>
        <p:nvSpPr>
          <p:cNvPr id="509" name="Google Shape;509;p9"/>
          <p:cNvSpPr txBox="1"/>
          <p:nvPr>
            <p:ph idx="8" type="body"/>
          </p:nvPr>
        </p:nvSpPr>
        <p:spPr>
          <a:xfrm>
            <a:off x="1409700" y="3857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510" name="Google Shape;510;p9"/>
          <p:cNvSpPr txBox="1"/>
          <p:nvPr>
            <p:ph idx="9" type="body"/>
          </p:nvPr>
        </p:nvSpPr>
        <p:spPr>
          <a:xfrm>
            <a:off x="1409700" y="4724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الخادم</a:t>
            </a:r>
            <a:endParaRPr/>
          </a:p>
        </p:txBody>
      </p:sp>
      <p:sp>
        <p:nvSpPr>
          <p:cNvPr id="511" name="Google Shape;511;p9"/>
          <p:cNvSpPr txBox="1"/>
          <p:nvPr>
            <p:ph idx="13" type="body"/>
          </p:nvPr>
        </p:nvSpPr>
        <p:spPr>
          <a:xfrm>
            <a:off x="1409700" y="5419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‎.NET 9 بمعمارية نظيفة</a:t>
            </a:r>
            <a:endParaRPr>
              <a:latin typeface="Readex Pro Light"/>
              <a:ea typeface="Readex Pro Light"/>
              <a:cs typeface="Readex Pro Light"/>
              <a:sym typeface="Readex Pro Light"/>
            </a:endParaRPr>
          </a:p>
        </p:txBody>
      </p:sp>
      <p:sp>
        <p:nvSpPr>
          <p:cNvPr id="512" name="Google Shape;512;p9"/>
          <p:cNvSpPr txBox="1"/>
          <p:nvPr>
            <p:ph idx="14" type="body"/>
          </p:nvPr>
        </p:nvSpPr>
        <p:spPr>
          <a:xfrm>
            <a:off x="12077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513" name="Google Shape;513;p9"/>
          <p:cNvSpPr txBox="1"/>
          <p:nvPr>
            <p:ph idx="15" type="body"/>
          </p:nvPr>
        </p:nvSpPr>
        <p:spPr>
          <a:xfrm>
            <a:off x="12077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قاعدة البيانات</a:t>
            </a:r>
            <a:endParaRPr/>
          </a:p>
        </p:txBody>
      </p:sp>
      <p:sp>
        <p:nvSpPr>
          <p:cNvPr id="514" name="Google Shape;514;p9"/>
          <p:cNvSpPr txBox="1"/>
          <p:nvPr>
            <p:ph idx="16" type="body"/>
          </p:nvPr>
        </p:nvSpPr>
        <p:spPr>
          <a:xfrm>
            <a:off x="12077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SQL Server وEF Core</a:t>
            </a:r>
            <a:endParaRPr>
              <a:latin typeface="Readex Pro Light"/>
              <a:ea typeface="Readex Pro Light"/>
              <a:cs typeface="Readex Pro Light"/>
              <a:sym typeface="Readex Pro Light"/>
            </a:endParaRPr>
          </a:p>
        </p:txBody>
      </p:sp>
      <p:sp>
        <p:nvSpPr>
          <p:cNvPr id="515" name="Google Shape;515;p9"/>
          <p:cNvSpPr txBox="1"/>
          <p:nvPr>
            <p:ph idx="17" type="body"/>
          </p:nvPr>
        </p:nvSpPr>
        <p:spPr>
          <a:xfrm>
            <a:off x="6743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516" name="Google Shape;516;p9"/>
          <p:cNvSpPr txBox="1"/>
          <p:nvPr>
            <p:ph idx="18" type="body"/>
          </p:nvPr>
        </p:nvSpPr>
        <p:spPr>
          <a:xfrm>
            <a:off x="6743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الذكاء الاصطناعي</a:t>
            </a:r>
            <a:endParaRPr/>
          </a:p>
        </p:txBody>
      </p:sp>
      <p:sp>
        <p:nvSpPr>
          <p:cNvPr id="517" name="Google Shape;517;p9"/>
          <p:cNvSpPr txBox="1"/>
          <p:nvPr>
            <p:ph idx="19" type="body"/>
          </p:nvPr>
        </p:nvSpPr>
        <p:spPr>
          <a:xfrm>
            <a:off x="6743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Semantic Kernel مع Together (وGemini احتياطاً)</a:t>
            </a:r>
            <a:endParaRPr>
              <a:latin typeface="Readex Pro Light"/>
              <a:ea typeface="Readex Pro Light"/>
              <a:cs typeface="Readex Pro Light"/>
              <a:sym typeface="Readex Pro Light"/>
            </a:endParaRPr>
          </a:p>
        </p:txBody>
      </p:sp>
      <p:sp>
        <p:nvSpPr>
          <p:cNvPr id="518" name="Google Shape;518;p9"/>
          <p:cNvSpPr txBox="1"/>
          <p:nvPr>
            <p:ph idx="20" type="body"/>
          </p:nvPr>
        </p:nvSpPr>
        <p:spPr>
          <a:xfrm>
            <a:off x="1409700" y="6524625"/>
            <a:ext cx="4476900" cy="7239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06</a:t>
            </a:r>
            <a:endParaRPr/>
          </a:p>
        </p:txBody>
      </p:sp>
      <p:sp>
        <p:nvSpPr>
          <p:cNvPr id="519" name="Google Shape;519;p9"/>
          <p:cNvSpPr txBox="1"/>
          <p:nvPr>
            <p:ph idx="21" type="body"/>
          </p:nvPr>
        </p:nvSpPr>
        <p:spPr>
          <a:xfrm>
            <a:off x="1409700" y="7391400"/>
            <a:ext cx="4476900" cy="619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F2F4FF"/>
                </a:solidFill>
                <a:latin typeface="Readex Pro"/>
                <a:ea typeface="Readex Pro"/>
                <a:cs typeface="Readex Pro"/>
                <a:sym typeface="Readex Pro"/>
              </a:rPr>
              <a:t>الجودة</a:t>
            </a:r>
            <a:endParaRPr/>
          </a:p>
        </p:txBody>
      </p:sp>
      <p:sp>
        <p:nvSpPr>
          <p:cNvPr id="520" name="Google Shape;520;p9"/>
          <p:cNvSpPr txBox="1"/>
          <p:nvPr>
            <p:ph idx="22" type="body"/>
          </p:nvPr>
        </p:nvSpPr>
        <p:spPr>
          <a:xfrm>
            <a:off x="1409700" y="8086725"/>
            <a:ext cx="4476900" cy="781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lang="ar-SA" sz="2250">
                <a:solidFill>
                  <a:srgbClr val="CBCFE6"/>
                </a:solidFill>
                <a:latin typeface="Readex Pro Light"/>
                <a:ea typeface="Readex Pro Light"/>
                <a:cs typeface="Readex Pro Light"/>
                <a:sym typeface="Readex Pro Light"/>
              </a:rPr>
              <a:t>xUnit وPlaywright وفحص إتاحة</a:t>
            </a:r>
            <a:endParaRPr>
              <a:latin typeface="Readex Pro Light"/>
              <a:ea typeface="Readex Pro Light"/>
              <a:cs typeface="Readex Pro Light"/>
              <a:sym typeface="Readex Pr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القياس</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نقيس النجاح</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نُفِّذ وما هو مخطَّط، بوضوح</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النتيجة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الحالة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طريقة القياس</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المؤشر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مخطَّط</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مقارنة بمجموعة مرجعية من أحكام أئمة العلل</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دقة قواعد فحص العلل</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10 من 10</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منفَّذ</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اختبارات آلية على منطق الخلاف وحالة الدليل (برمجياً)</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منطق عرض الخلاف وحالة الدليل (تصنيف البيانات مخطَّط)</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0 مخالفات</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منفَّذ</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فحص axe-core (WCAG 2.1 AA) لأربع صفحات رئيسية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الإتاحة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مخطَّط</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اختبار مع 3 إلى 5 مستخدمين (SEQ وSUS)</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سهولة الاستخدام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الأرقام المعروضة نتائج فعلية، وكل بند «مخطَّط» لم يُنفَّذ بعد</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خطة الاستمرار</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الأولويات بعد التسليم</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التسليم</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6 أكتوبر 2026</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حل يعمل ورابط حي ومستودع</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قياس الدقة</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التسليم</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مجموعة مرجعية لقواعد العلل</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الاختبار</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التسليم</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 مستخدمين وتحسينات موثقة</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الإتاحة</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التسليم</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بديل نصي لرسم الشجرة</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المراجعة</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بعد التسليم</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مراجعة شرعية للمصطلحات والحالات</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مقارنة مع المراجع القائمة</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نكمّل المراجع ولا نستبدلها</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المكتبة الشاملة والدرر السنية</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مراجع نصية وأحكام معتمدة</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شجرة الأسانيد الذكية</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رسم الإسناد وفحصه</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الميزة: نصوص كاملة وأحكام مرجعية موثوقة</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القيد: السند يُقرأ نصاً، وجمع الطرق ومقارنتها جهد يدوي</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يناسب: الرجوع إلى النص والحكم المعتمد</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الميزة: رسم الأسانيد عبر الدواوين وفحص العلل</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القيد: لا تُصدر حكماً ولا تغني عن المصادر</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يناسب: التحقق الأولي ومقارنة الطرق قبل الرجوع للحكم</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المسار 04 · أدوات المعرفة والتحقق</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Abdelrahman Alaa Mohamed</a:t>
            </a:r>
            <a:endParaRPr/>
          </a:p>
        </p:txBody>
      </p:sp>
      <p:sp>
        <p:nvSpPr>
          <p:cNvPr id="694" name="Google Shape;694;p19"/>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قائد الفريق · الذكاء الاصطناعي وقواعد العلل</a:t>
            </a:r>
            <a:endParaRPr/>
          </a:p>
        </p:txBody>
      </p:sp>
      <p:sp>
        <p:nvSpPr>
          <p:cNvPr id="695" name="Google Shape;695;p19"/>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Abdelrahman Alaa Mohamed</a:t>
            </a:r>
            <a:endParaRPr/>
          </a:p>
        </p:txBody>
      </p:sp>
      <p:sp>
        <p:nvSpPr>
          <p:cNvPr id="697" name="Google Shape;697;p19"/>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الواجهات والخادم والبيانات</a:t>
            </a:r>
            <a:endParaRPr/>
          </a:p>
        </p:txBody>
      </p:sp>
      <p:sp>
        <p:nvSpPr>
          <p:cNvPr id="698" name="Google Shape;698;p19"/>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مخطَّطة</a:t>
            </a:r>
            <a:endParaRPr/>
          </a:p>
        </p:txBody>
      </p:sp>
      <p:sp>
        <p:nvSpPr>
          <p:cNvPr id="700" name="Google Shape;700;p19"/>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متخصص شرعي بعد التسليم</a:t>
            </a:r>
            <a:endParaRPr/>
          </a:p>
        </p:txBody>
      </p:sp>
      <p:sp>
        <p:nvSpPr>
          <p:cNvPr id="701" name="Google Shape;701;p19"/>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702" name="Google Shape;702;p19"/>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Abdelrahman Alaa Mohamed</a:t>
            </a:r>
            <a:endParaRPr/>
          </a:p>
        </p:txBody>
      </p:sp>
      <p:sp>
        <p:nvSpPr>
          <p:cNvPr id="703" name="Google Shape;703;p19"/>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تجربة المستخدم والاختبار</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شجرة الأسانيد الذكية · الرابط الحي: smart-hadith.idealisticsolutions.com</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github.com/Abdelrahman984/smart-hadith-tree-web-public</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شركاؤنا</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