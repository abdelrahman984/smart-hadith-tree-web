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46704" y="1097280"/>
            <a:ext cx="5486400" cy="457200"/>
          </a:xfrm>
          <a:prstGeom prst="roundRect">
            <a:avLst/>
          </a:prstGeom>
          <a:solidFill>
            <a:srgbClr val="1424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B4D8"/>
                </a:solidFill>
                <a:latin typeface="Arial"/>
              </a:defRPr>
            </a:pPr>
            <a:r>
              <a:t>تحدي الذكاء الاصطناعي في خدمة المحتوى الإسلامي 2026م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28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شجرة الحديث الذكية</a:t>
            </a:r>
          </a:p>
          <a:p>
            <a:pPr algn="ctr">
              <a:defRPr sz="2400" b="1">
                <a:solidFill>
                  <a:srgbClr val="E2C044"/>
                </a:solidFill>
                <a:latin typeface="Arial"/>
              </a:defRPr>
            </a:pPr>
            <a:r>
              <a:t>Smart Hadith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BD5E1"/>
                </a:solidFill>
                <a:latin typeface="Arial"/>
              </a:defRPr>
            </a:pPr>
            <a:r>
              <a:t>منصة بيانية واستدلالية مدعومة بالذكاء الاصطناعي لكشف انقطاع الأسانيد،</a:t>
            </a:r>
            <a:br/>
            <a:r>
              <a:t>تمثيل شبكات الرواة بصرياً، وصياغة أحكام الجرح والتعديل الموثقة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5120640"/>
            <a:ext cx="4114800" cy="1005840"/>
          </a:xfrm>
          <a:prstGeom prst="roundRect">
            <a:avLst/>
          </a:prstGeom>
          <a:solidFill>
            <a:srgbClr val="14244A"/>
          </a:solidFill>
          <a:ln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0B4D8"/>
                </a:solidFill>
              </a:defRPr>
            </a:pPr>
            <a:r>
              <a:t>المسار المختار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أدوات المعرفة والتحقق لتمكين المعرّفين بالإسلام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5120640"/>
            <a:ext cx="4114800" cy="1005840"/>
          </a:xfrm>
          <a:prstGeom prst="roundRect">
            <a:avLst/>
          </a:prstGeom>
          <a:solidFill>
            <a:srgbClr val="14244A"/>
          </a:solidFill>
          <a:ln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E2C044"/>
                </a:solidFill>
              </a:defRPr>
            </a:pPr>
            <a:r>
              <a:t>الجهة المنظمة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مؤسسة باذل الأهلية بالشراكة مع سدايا (SDAIA)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0B4D8"/>
                </a:solidFill>
                <a:latin typeface="Arial"/>
              </a:defRPr>
            </a:pPr>
            <a:r>
              <a:t>المسار 04: أدوات المعرفة والتحقق لتمكين المعرّفين بالإسلام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Arial"/>
              </a:defRPr>
            </a:pPr>
            <a:r>
              <a:t>المشكلة والاحتياج الواقعي في دراسة الأسانيد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E2C044"/>
                </a:solidFill>
                <a:latin typeface="Arial"/>
              </a:defRPr>
            </a:pPr>
            <a:r>
              <a:t>تشتت الروايات وتضخم التراجم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الأسانيد موزعة بين مئات المصنفات وأمهات كتب الحديث والعلل.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تراجم الرواة تتجاوز 100 ألف راوٍ مبعثرين في مجلدات مطولة.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صعوبة الربط التلقائي بين الشيخ وتلميذه عبر مسارات الرواية.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E2C044"/>
                </a:solidFill>
                <a:latin typeface="Arial"/>
              </a:defRPr>
            </a:pPr>
            <a:r>
              <a:t>بطء التحقق من الاتصال والانقطاع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يستغرق الباحث ساعات طويلة لمقارنة سنة وفاة الشيخ بميلاد التلميذ.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احتمالية وقوع السهو البشري في كشف الانقطاع الشكلي والزمني.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غياب أدوات رقمية تفحص إمكانية اللقاء والمعاصرة آلياً.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0624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38912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E2C044"/>
                </a:solidFill>
                <a:latin typeface="Arial"/>
              </a:defRPr>
            </a:pPr>
            <a:r>
              <a:t>تعارض أقوال الجرح والتعديل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اختلاف أحكام الأئمة (كابن حجر، الذهبي، والدارقطني) على الراوي الواحد.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صعوبة تلخيص وتركيب حكم نقدي متوازن لغير المتخصص المتمرس.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خطر هلوسة أدوات الذكاء الاصطناعي العامة عند سؤالها عن رجال الحديث.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E2C044"/>
                </a:solidFill>
                <a:latin typeface="Arial"/>
              </a:defRPr>
            </a:pPr>
            <a:r>
              <a:t>غياب التمثيل البصري والبياني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سلاسل السند تُقرأ كنصوص سردية مصمتة يصعب تخيل تشابكها.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انعدام رؤية 'مدارات الحديث' وتفرعات الطرق والمتابعات بصرياً.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حاجة الدعاة والمعرّفين بالإسلام لأداة بصرية سريعة الإقناع والإيضاح.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0B4D8"/>
                </a:solidFill>
                <a:latin typeface="Arial"/>
              </a:defRPr>
            </a:pPr>
            <a:r>
              <a:t>المسار 04: أدوات المعرفة والتحقق لتمكين المعرّفين بالإسلام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Arial"/>
              </a:defRPr>
            </a:pPr>
            <a:r>
              <a:t>الحل المبتكر: شجرة بيانية استدلالية ذكية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تمثيل بياني تفاعلي (Knowledge Graph)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تحويل سند الحديث من نص سردي إلى رسم شجري تفاعلي فائق الدقة.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توزيع هرمي منظم باستخدام خوارزميات التخطيط المتطورة (ELK Engine).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تمييز فوري لطبقات الرواة وحالتهم التوثيقية بنظام ألوان دلالي.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كشف الانقطاع الزمني الآلي (Inqita' Detection)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محرك فحص زمني يقارن سنة ميلاد التلميذ بسنة وفاة الشيخ آلياً.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إبراز الانقطاع بخط أحمر متقطع وشارة تحذيرية برهانها مثبت زمنياً.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كشف الانقطاع الشكلي والاستحالة التاريخية في أجزاء من الثانية.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0624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38912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تلخيص الجرح والتعديل بالذكاء الاصطناعي (RAG)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توليد معزز بالاسترجاع (RAG) يستند فقط لنصوص الأئمة التاريخية الموثقة.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صياغة خلاصة نقدية متوازنة لمرتبة الراوي بنقرة زر ودون أي هلوسة.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سياسة امتناع صارمة تحيل للمختص عند غياب الدليل أو تعذر الترجيح.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عزل مسارات الضعف والتصدير الفائق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ميزة الفلترة الذكية لتعتيم الرواة الثقات وإبراز مواطن الضعف في السند.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تصدير الشجرة التفاعلية كصورة عالية الدقة لدعم البحوث والعروض.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بحث فوري بالمتن والراوي عبر 18 مصنفاً حديثياً معتمداً.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0B4D8"/>
                </a:solidFill>
                <a:latin typeface="Arial"/>
              </a:defRPr>
            </a:pPr>
            <a:r>
              <a:t>المسار 04: أدوات المعرفة والتحقق لتمكين المعرّفين بالإسلام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Arial"/>
              </a:defRPr>
            </a:pPr>
            <a:r>
              <a:t>المعمارية التقنية المتكاملة (Clean Architecture)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3291840" cy="448056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011680"/>
            <a:ext cx="2926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E2C044"/>
                </a:solidFill>
                <a:latin typeface="Arial"/>
              </a:defRPr>
            </a:pPr>
            <a:r>
              <a:t>1. طبقة البيانات الضخمة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موسوعة إتقان (Itqan Dataset) المعتمدة علمياً.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أكثر من 112,800 حديث نبوي مسند.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أكثر من 115,700 راوٍ موثق التواريخ والطبقة.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أكثر من 225,800 رابط إسنادي بين الشيوخ والتلاميذ.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106,000 توثيق جرح وتعديل من كتب التراجم المعتمدة.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91840" cy="448056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2926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2. الخادم ومحرك المعالجة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.NET 9 Web API مبني وفق Clean Architecture الصارمة.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استعلامات Recursive CTE فائقة السرعة لبناء مسارات الرواية.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خدمة البحث المتقدم وتطبيع النصوص العربية المعقدة.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خدمة فحص الانقطاع وحساب الفوارق الزمنية بين الطبقات.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EF Core مع فهرسة متقدمة في SQL Server لضمان الأداء.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3291840" cy="448056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2926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3. واجهة المستخدم والذكاء الاصطناعي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Next.js (App Router) مع TypeScript و Tailwind CSS.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محرك React Flow مع خوارزميات التخطيط الهرمي ELK.js.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توليد مدعوم بـ Microsoft Semantic Kernel و Gemini LLM.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مكتبة html-to-image لتصدير الشجرة بدقة Vector/High-Res.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واجهة متجاوبة بالكامل تدعم العربية RTL وسهلة الاستخدام.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0B4D8"/>
                </a:solidFill>
                <a:latin typeface="Arial"/>
              </a:defRPr>
            </a:pPr>
            <a:r>
              <a:t>المسار 04: أدوات المعرفة والتحقق لتمكين المعرّفين بالإسلام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Arial"/>
              </a:defRPr>
            </a:pPr>
            <a:r>
              <a:t>توظيف الذكاء الاصطناعي ومحددات الأمان والسلامة العلمية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التوليد المعزز بالاسترجاع (Domain-Specific RAG)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لا يعتمد النموذج على معلوماته العامة؛ بل يُحقن ببيانات الراوي المسترجعة حصراً.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يسترجع النظام أقوال أئمة الحديث الكبار (ابن حجر، الذهبي، المزي) حرفياً.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يقوم النموذج بتركيب الأقوال ووزنها بأسلوب نقدي محكم كباحث حديثي متمرس.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E2C044"/>
                </a:solidFill>
                <a:latin typeface="Arial"/>
              </a:defRPr>
            </a:pPr>
            <a:r>
              <a:t>سياسة الحماية والامتناع الصارم (Zero Hallucination)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منع توليد أي اسم أو تاريخ أو حكم غير موجود في المستندات المسترجعة.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عند فقدان تاريخ الميلاد أو الوفاة، يمتنع النظام عن الحكم بالانقطاع جزافاً.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يظهر النظام بوضوح: 'تاريخ غير متوفر - يتطلب مراجعة مكتبية متخصصة'.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0624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38912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مستويات المحتوى الأربعة وضبط التوثيق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المستوى 1: المتن النوبي الصريح والباب والكتاب والمصدر المصنف.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المستوى 2: شجرة الإسناد ورجال السند وأداة التحمل (حدثنا، أخبرنا، عن).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المستوى 3: أقوال أئمة الجرح والتعديل المنسوبة بدقة لكل إمام.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المستوى 4: الملخص التركيبي والتنبيهات المنهجية المدعومة بالذكاء الاصطناعي.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E2C044"/>
                </a:solidFill>
                <a:latin typeface="Arial"/>
              </a:defRPr>
            </a:pPr>
            <a:r>
              <a:t>إسناد المراجع والإحالة للمختصين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توثيق كامل لكل راوٍ مع رقم معرفه في موسوعة إتقان والكتب المعتمدة.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زر مخصص لإحالة المسألة أو الراوي الشائك إلى الباحث البشري.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الشفافية الكاملة: يمكن للمستخدم مراجعة النصوص الأصلية لأقوال الأئمة بنفسه.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0B4D8"/>
                </a:solidFill>
                <a:latin typeface="Arial"/>
              </a:defRPr>
            </a:pPr>
            <a:r>
              <a:t>المسار 04: أدوات المعرفة والتحقق لتمكين المعرّفين بالإسلام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Arial"/>
              </a:defRPr>
            </a:pPr>
            <a:r>
              <a:t>محرك كشف الانقطاع والتحليل البياني للأسانيد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معادلة الفحص الزمني للرواة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إذا كانت: (سنة ميلاد التلميذ &gt; سنة وفاة الشيخ) -&gt; يُثبت الانقطاع يقيناً.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إذا كان الفارق الزمني مستحيلاً عادة للتحمل والسماع -&gt; يُرفع مؤشر الشبهة.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معالجة كافة حالات فقدان التواريخ دون افتراض مضلل.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التجسيد البصري الذكي للعلة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رسم خط متقطع عريض باللون الأحمر يربط بين الراويين المنقطعين.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إضافة وسم صريح 'انقطاع' فوق الرابط الإسنادي.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أيقونة تحذير تفاعلية توضح بالتمرير: سبب الانقطاع وفارق السنين بدقة.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0624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38912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E2C044"/>
                </a:solidFill>
                <a:latin typeface="Arial"/>
              </a:defRPr>
            </a:pPr>
            <a:r>
              <a:t>عزل الروابط الضعيفة (Weak Links Isolation)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مفتاح تحكم يتيح خفض شفافية الرواة الثقات إلى 30% بضغطة زر واحدة.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إبراز الرواة الضعفاء أو المتروكين أو المنقطعين بلون بارز وسط الشجرة.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تمكين المعرّف والباحث من اكتشاف علة الحديث في ثوانٍ معدودة.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E2C044"/>
                </a:solidFill>
                <a:latin typeface="Arial"/>
              </a:defRPr>
            </a:pPr>
            <a:r>
              <a:t>أدوات التصدير والمشاركة الأكاديمية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تصدير كامل مساحة الشجرة التفاعلية بصيغة PNG فائقة الجودة.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ملائمة الرسوم للمشاركة في الأبحاث، المحاضرات، والمحتوى الرقمي للدعوة.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حفظ مقياس الرسم ودقة النصوص العربية دون تشويه.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0B4D8"/>
                </a:solidFill>
                <a:latin typeface="Arial"/>
              </a:defRPr>
            </a:pPr>
            <a:r>
              <a:t>المسار 04: أدوات المعرفة والتحقق لتمكين المعرّفين بالإسلام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Arial"/>
              </a:defRPr>
            </a:pPr>
            <a:r>
              <a:t>قاعدة البيانات والشمولية: 18 مصنفاً مسنداً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0" y="1828800"/>
            <a:ext cx="2468880" cy="1188720"/>
          </a:xfrm>
          <a:prstGeom prst="roundRect">
            <a:avLst/>
          </a:prstGeom>
          <a:solidFill>
            <a:srgbClr val="14244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112,813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حديث مسند ومفهرس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468880" cy="1188720"/>
          </a:xfrm>
          <a:prstGeom prst="roundRect">
            <a:avLst/>
          </a:prstGeom>
          <a:solidFill>
            <a:srgbClr val="14244A"/>
          </a:solidFill>
          <a:ln>
            <a:solidFill>
              <a:srgbClr val="E2C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2C044"/>
                </a:solidFill>
              </a:defRPr>
            </a:pPr>
            <a:r>
              <a:t>115,735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راوٍ موثق التراجم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1188720"/>
          </a:xfrm>
          <a:prstGeom prst="roundRect">
            <a:avLst/>
          </a:prstGeom>
          <a:solidFill>
            <a:srgbClr val="14244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225,807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رابط إسنادي متصل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68880" cy="1188720"/>
          </a:xfrm>
          <a:prstGeom prst="roundRect">
            <a:avLst/>
          </a:prstGeom>
          <a:solidFill>
            <a:srgbClr val="14244A"/>
          </a:solidFill>
          <a:ln>
            <a:solidFill>
              <a:srgbClr val="E2C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2C044"/>
                </a:solidFill>
              </a:defRPr>
            </a:pPr>
            <a:r>
              <a:t>18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مصنفاً حديثياً كاملاً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91840"/>
            <a:ext cx="5120640" cy="30175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74720"/>
            <a:ext cx="4754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كتب السنة وأمهات المصنفات المدمجة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صحيح البخاري وصحيح مسلم.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السنن الأربعة: أبو داود، الترمذي، النسائي، ابن ماجه.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مسند الإمام أحمد بن حنبل (26,539 حديثاً).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مصنف ابن أبي شيبة (37,943 حديثاً).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موطأ مالك، سنن الدارمي، الأدب المفرد، وبلوغ المرام.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5120640" cy="30175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4754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E2C044"/>
                </a:solidFill>
                <a:latin typeface="Arial"/>
              </a:defRPr>
            </a:pPr>
            <a:r>
              <a:t>توحيد الرواة وربط الأسانيد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توحيد هوية الرواة (Disambiguation) لمنع تكرار الراوي بأسماء مختلفة.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ربط كل حديث بتبويبه الأصلي وكتابه ورقمه التسلسلي المعتمد عالمياً.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استيعاب 106,000 توثيق جرح وتعديل لمختلف أئمة النقد عبر العصور.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جاهزية كاملة للاستعلام السريع دون الاعتماد على خدمات خارجية معطلة.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0B4D8"/>
                </a:solidFill>
                <a:latin typeface="Arial"/>
              </a:defRPr>
            </a:pPr>
            <a:r>
              <a:t>المسار 04: أدوات المعرفة والتحقق لتمكين المعرّفين بالإسلام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Arial"/>
              </a:defRPr>
            </a:pPr>
            <a:r>
              <a:t>خطة التطوير خلال أيام التحدي (4 - 6 أكتوبر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83280" cy="448056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2011680"/>
            <a:ext cx="3017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اليوم الأول (4 أكتوبر): التدقيق الزمني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تحسين خوارزمية كشف الانقطاع الخفي بالربط مع صيغ التحمل والأداء (عنعنة المدلسين).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تسريع استعلامات الـ Recursive CTE للشجرات الإسنادية الضخمة متفرعة الطرق.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إجراء جلسات الإرشاد الأولى وضبط المتطلبات التوثيقية مع مرشدي التحدي.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إجراء اختبارات دقة على 50 إسناداً معقداً ومقارنتها بأحكام أئمة العلل.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48056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17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E2C044"/>
                </a:solidFill>
                <a:latin typeface="Arial"/>
              </a:defRPr>
            </a:pPr>
            <a:r>
              <a:t>اليوم الثاني (5 أكتوبر): دمج الطرق والشواهد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بناء ميزة 'دمج أسانيد الحديث الواحد' لإظهار المتابعات والشواهد في شجرة موحدة.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تطوير لوحة مقارنة الرواة لإبراز التباين والاتفاق في صيغ الرواية.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تحسين صياغة الـ RAG لتسليط الضوء على الرواة المتكلم فيهم بوضوح أكبر.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اختبارات واجهة المستخدم والتأكد من سهولة التنقل والاستجابة على كافة الشاشات.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3383280" cy="448056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17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اليوم الثالث (6 أكتوبر): التسليم والنشر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نشر وتأمين النسخة التجريبية الحية (Live Demo) على بيئة سحابية مستقرة.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إنتاج الفيديو التعريفي التوضيحي (أقل من دقيقتين) شاملاً تجربة حية للنظام.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تنظيف وتوثيق مستودع GitHub العام وإرفاق ملفات README وإرشادات التشغيل.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المراجعة الشاملة لمتطلبات التسليم واستكمال الرفع قبل موعد 11:59 مساءً.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0B4D8"/>
                </a:solidFill>
                <a:latin typeface="Arial"/>
              </a:defRPr>
            </a:pPr>
            <a:r>
              <a:t>المسار 04: أدوات المعرفة والتحقق لتمكين المعرّفين بالإسلام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Arial"/>
              </a:defRPr>
            </a:pPr>
            <a:r>
              <a:t>الأثر المتوقع واستدامة التشغيل والجاهزية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E2C044"/>
                </a:solidFill>
                <a:latin typeface="Arial"/>
              </a:defRPr>
            </a:pPr>
            <a:r>
              <a:t>الأثر على الباحثين والمعرّفين بالإسلام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توفير أكثر من 90% من الوقت المستغرق في تحقيق صحة السند واتصاله.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تمكين المحاور الإسلامي من إظهار قوة ونظافة الإسناد بالدليل المرئي الحاسم.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نقل علم الإسناد الشريف من حيز التجريد النظري إلى الإدراك البصري المعاصر.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قابلية التطبيق والتوسع (Scalability)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هندسة برمجية حديثة تدعم الحاويات (Docker Containers) ونشر Kubernetes السهل.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قاعدة بيانات محلية متكاملة تضمن سرعة الاستجابة بأقل من 300 ملي ثانية.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بنية مفتوحة تسمح بإضافة كتب الأجزاء والمستخرجات ومعاجم الصحابة بسلاسة.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0624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38912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تكاليف التشغيل المنخفضة والاستدامة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الاعتماد على قواعد بيانات مهيكلة يقلل استهلاك استدعاءات نماذج الذكاء الاصطناعي.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حصر استهلاك الذكاء الاصطناعي على التلخيص الدقيق والمنضبط مما يخفض التكاليف.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إمكانية العمل على خوادم سحابية منخفضة التكلفة (Cloud Hosting).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E2C044"/>
                </a:solidFill>
                <a:latin typeface="Arial"/>
              </a:defRPr>
            </a:pPr>
            <a:r>
              <a:t>إتاحة واجهات برمجية مفتوحة (Open API)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توفير RESTful APIs تتيح للمنصات والمواقع الإسلامية جلب شجرة السند تلقائياً.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تمكين تطبيقات الهواتف الذكية الدعوية من تضمين الرسم الشجري بلمسة زر.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تحويل المنصة إلى بنية تحتية معرفية تخدم مئات المشاريع التقنية الإسلامية.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0B4D8"/>
                </a:solidFill>
                <a:latin typeface="Arial"/>
              </a:defRPr>
            </a:pPr>
            <a:r>
              <a:t>المسار 04: أدوات المعرفة والتحقق لتمكين المعرّفين بالإسلام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Arial"/>
              </a:defRPr>
            </a:pPr>
            <a:r>
              <a:t>فريق العمل والخاتمة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تكامل كفاءات الفريق وتغطية المهام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هندسة الذكاء الاصطناعي: ضبط نماذج اللغة وهندسة الـ RAG والاسترجاع الدقيق.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تطوير النظم والواجهات: بناء خوادم .NET 9 ومعمارية React Flow و ELK.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التحقيق الشرعي والمعرفي: ضبط مناهج المحدثين وقواعد الجرح وتدقيق البيانات.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تصميم تجربة المستخدم: تبسيط التعامل مع الرسوم المعقدة وإتاحة الشاشات.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20640" cy="2103120"/>
          </a:xfrm>
          <a:prstGeom prst="roundRect">
            <a:avLst/>
          </a:prstGeom>
          <a:solidFill>
            <a:srgbClr val="14244A"/>
          </a:solidFill>
          <a:ln w="19050">
            <a:solidFill>
              <a:srgbClr val="213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Arial"/>
              </a:defRPr>
            </a:pPr>
            <a:r>
              <a:t>الالتزام بضوابط ومعايير التحدي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كود مصدري منظم ومفتوح بالكامل على GitHub مع رخصة واضحة وتوثيق تشغيل.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عرض تجريبي مباشر (Live Demo) يعمل فعلياً ومتاح لاختبار لجان التحكيم.</a:t>
            </a:r>
          </a:p>
          <a:p>
            <a:pPr algn="r">
              <a:spcBef>
                <a:spcPts val="8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• التزام تام بالأمانة العلمية وسلامة الإسناد دون اختلاق أو مبالغة.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297680"/>
            <a:ext cx="9448495" cy="1920240"/>
          </a:xfrm>
          <a:prstGeom prst="roundRect">
            <a:avLst/>
          </a:prstGeom>
          <a:solidFill>
            <a:srgbClr val="14244A"/>
          </a:solidFill>
          <a:ln w="25400">
            <a:solidFill>
              <a:srgbClr val="E2C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2C044"/>
                </a:solidFill>
                <a:latin typeface="Arial"/>
              </a:defRPr>
            </a:pPr>
            <a:r>
              <a:t>«الإسناد من الدين، ولولا الإسناد لقال من شاء ما شاء» — عبد الله بن المبارك</a:t>
            </a:r>
          </a:p>
          <a:p>
            <a:pPr algn="ctr">
              <a:spcBef>
                <a:spcPts val="1200"/>
              </a:spcBef>
              <a:defRPr sz="1500">
                <a:solidFill>
                  <a:srgbClr val="FFFFFF"/>
                </a:solidFill>
                <a:latin typeface="Arial"/>
              </a:defRPr>
            </a:pPr>
            <a:r>
              <a:t>مشروع شجرة الحديث الذكية: إعادة إحياء علم الإسناد الخالد بأحدث تقنيات الرسوم البيانية والذكاء الاصطناعي المسند لخدمة أقدس محتوى بشري.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